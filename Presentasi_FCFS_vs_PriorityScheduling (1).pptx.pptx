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libri (MS) Bold" charset="1" panose="020F0702030404030204"/>
      <p:regular r:id="rId17"/>
    </p:embeddedFont>
    <p:embeddedFont>
      <p:font typeface="Cambria Bold" charset="1" panose="02040803050406030204"/>
      <p:regular r:id="rId18"/>
    </p:embeddedFont>
    <p:embeddedFont>
      <p:font typeface="Calibri (MS) Italics" charset="1" panose="020F05020202040A0204"/>
      <p:regular r:id="rId19"/>
    </p:embeddedFont>
    <p:embeddedFont>
      <p:font typeface="Calibri (MS)" charset="1" panose="020F0502020204030204"/>
      <p:regular r:id="rId20"/>
    </p:embeddedFont>
    <p:embeddedFont>
      <p:font typeface="Arial" charset="1" panose="020B0604020202020204"/>
      <p:regular r:id="rId24"/>
    </p:embeddedFont>
    <p:embeddedFont>
      <p:font typeface="Cambria Italics" charset="1" panose="020405030504060A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fonts/font24.fntdata" Type="http://schemas.openxmlformats.org/officeDocument/2006/relationships/font"/><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fonts/font28.fntdata" Type="http://schemas.openxmlformats.org/officeDocument/2006/relationships/font"/><Relationship Id="rId29"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Selamat pagi/siang. Kami dari kelompok Analisis Algoritma akan mempresentasikan project akhir berjudul Implementasi dan Analisis Perbandingan Algoritma FCFS dan Priority Scheduling pada Sistem Antrean Pelayanan Akademik. Perkenalkan anggota kelompok kami. Durasi: sekitar 30 detik.</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Permasalahan utama: antrean layanan akademik manual belum mempertimbangkan urgensi permintaan. FCFS memberi keadilan urutan tapi tidak sensitif prioritas. Karena itu kami membandingkan FCFS dan Priority Scheduling baik secara teori Big-O maupun eksperimen nyata pada berbagai skala data. Durasi: sekitar 50 detik.</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FCFS memakai Queue berbasis deque dengan operasi O(1), murni FIFO berdasarkan waktu kedatangan. Priority Scheduling memakai Priority Queue yang kami implementasikan sendiri sebagai binary min-heap, dengan kunci gabungan prioritas dan waktu kedatangan; operasinya O(log n) karena proses heapify. Durasi: sekitar 1 menit.</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Program berbasis CLI Python. Alurnya: memuat dataset CSV, memilih algoritma, menjalankan FCFS atau Priority Scheduling, lalu pengujian otomatis diulang 5 kali dan dihitung rata-ratanya, sebelum akhirnya diekspor ke CSV. Program dipecah menjadi enam modul agar terstruktur. Durasi: sekitar 1 menit.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Secara teoritis, kedua algoritma sama-sama O(n log n) untuk waktu dan O(n) untuk ruang. FCFS didominasi sorting awal, sementara Priority Scheduling melakukan insert dan extract-min pada heap secara berulang. Namun Big-O yang sama tidak berarti performa aktualnya identik — ini yang akan kita lihat di hasil pengujian. Durasi: sekitar 1 menit.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hasil pengujian pada dataset 50, 100, 500, dan 1000 data, masing-masing dirata-rata dari 5 kali percobaan. Secara eksperimen, FCFS konsisten lebih cepat dibanding Priority Scheduling di semua skala. Ini karena operasi heap manual pada Priority Scheduling memiliki overhead lebih besar dibanding operasi deque yang O(1). Ini menunjukkan Big-O yang sama tidak menjamin performa aktual yang sama. Durasi: sekitar 1 menit 20 detik.</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Kesimpulannya: FCFS dengan Queue cocok untuk layanan umum yang menekankan keadilan urutan dan lebih cepat secara eksperimen. Priority Scheduling dengan Priority Queue cocok untuk layanan yang punya tingkat urgensi berbeda. Tidak ada satu algoritma yang mutlak terbaik untuk semua kondisi — pemilihan harus disesuaikan dengan karakteristik layanan. Durasi: sekitar 50 detik.</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Sekarang kami akan mendemonstrasikan program secara langsung: menjalankan program, menampilkan menu utama, memuat dataset, menjalankan FCFS, menjalankan Priority Scheduling, lalu membuka menu Bandingkan &amp; Rekomendasi untuk menunjukkan hasil perbandingan secara langsung. Durasi demo: maksimal 2 menit 30 detik.</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png" Type="http://schemas.openxmlformats.org/officeDocument/2006/relationships/image"/><Relationship Id="rId4"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2A4A"/>
        </a:solidFill>
      </p:bgPr>
    </p:bg>
    <p:spTree>
      <p:nvGrpSpPr>
        <p:cNvPr id="1" name=""/>
        <p:cNvGrpSpPr/>
        <p:nvPr/>
      </p:nvGrpSpPr>
      <p:grpSpPr>
        <a:xfrm>
          <a:off x="0" y="0"/>
          <a:ext cx="0" cy="0"/>
          <a:chOff x="0" y="0"/>
          <a:chExt cx="0" cy="0"/>
        </a:xfrm>
      </p:grpSpPr>
      <p:grpSp>
        <p:nvGrpSpPr>
          <p:cNvPr name="Group 2" id="2"/>
          <p:cNvGrpSpPr/>
          <p:nvPr/>
        </p:nvGrpSpPr>
        <p:grpSpPr>
          <a:xfrm rot="0">
            <a:off x="13167360" y="-3154680"/>
            <a:ext cx="8915400" cy="8915400"/>
            <a:chOff x="0" y="0"/>
            <a:chExt cx="11887200" cy="11887200"/>
          </a:xfrm>
        </p:grpSpPr>
        <p:sp>
          <p:nvSpPr>
            <p:cNvPr name="Freeform 3" id="3"/>
            <p:cNvSpPr/>
            <p:nvPr/>
          </p:nvSpPr>
          <p:spPr>
            <a:xfrm flipH="false" flipV="false" rot="0">
              <a:off x="0" y="0"/>
              <a:ext cx="11887200" cy="11887200"/>
            </a:xfrm>
            <a:custGeom>
              <a:avLst/>
              <a:gdLst/>
              <a:ahLst/>
              <a:cxnLst/>
              <a:rect r="r" b="b" t="t" l="l"/>
              <a:pathLst>
                <a:path h="11887200" w="11887200">
                  <a:moveTo>
                    <a:pt x="0" y="5943600"/>
                  </a:moveTo>
                  <a:cubicBezTo>
                    <a:pt x="0" y="2661031"/>
                    <a:pt x="2661031" y="0"/>
                    <a:pt x="5943600" y="0"/>
                  </a:cubicBezTo>
                  <a:cubicBezTo>
                    <a:pt x="9226169" y="0"/>
                    <a:pt x="11887200" y="2661031"/>
                    <a:pt x="11887200" y="5943600"/>
                  </a:cubicBezTo>
                  <a:cubicBezTo>
                    <a:pt x="11887200" y="9226169"/>
                    <a:pt x="9226169" y="11887200"/>
                    <a:pt x="5943600" y="11887200"/>
                  </a:cubicBezTo>
                  <a:cubicBezTo>
                    <a:pt x="2661031" y="11887200"/>
                    <a:pt x="0" y="9226169"/>
                    <a:pt x="0" y="5943600"/>
                  </a:cubicBezTo>
                  <a:close/>
                </a:path>
              </a:pathLst>
            </a:custGeom>
            <a:solidFill>
              <a:srgbClr val="0E7C86">
                <a:alpha val="3137"/>
              </a:srgbClr>
            </a:solidFill>
          </p:spPr>
        </p:sp>
      </p:grpSp>
      <p:grpSp>
        <p:nvGrpSpPr>
          <p:cNvPr name="Group 4" id="4"/>
          <p:cNvGrpSpPr/>
          <p:nvPr/>
        </p:nvGrpSpPr>
        <p:grpSpPr>
          <a:xfrm rot="0">
            <a:off x="-3017520" y="6309360"/>
            <a:ext cx="7132320" cy="7132320"/>
            <a:chOff x="0" y="0"/>
            <a:chExt cx="9509760" cy="9509760"/>
          </a:xfrm>
        </p:grpSpPr>
        <p:sp>
          <p:nvSpPr>
            <p:cNvPr name="Freeform 5" id="5"/>
            <p:cNvSpPr/>
            <p:nvPr/>
          </p:nvSpPr>
          <p:spPr>
            <a:xfrm flipH="false" flipV="false" rot="0">
              <a:off x="0" y="0"/>
              <a:ext cx="9509760" cy="9509760"/>
            </a:xfrm>
            <a:custGeom>
              <a:avLst/>
              <a:gdLst/>
              <a:ahLst/>
              <a:cxnLst/>
              <a:rect r="r" b="b" t="t" l="l"/>
              <a:pathLst>
                <a:path h="9509760" w="9509760">
                  <a:moveTo>
                    <a:pt x="0" y="4754880"/>
                  </a:moveTo>
                  <a:cubicBezTo>
                    <a:pt x="0" y="2128774"/>
                    <a:pt x="2128774" y="0"/>
                    <a:pt x="4754880" y="0"/>
                  </a:cubicBezTo>
                  <a:cubicBezTo>
                    <a:pt x="7380986" y="0"/>
                    <a:pt x="9509760" y="2128774"/>
                    <a:pt x="9509760" y="4754880"/>
                  </a:cubicBezTo>
                  <a:cubicBezTo>
                    <a:pt x="9509760" y="7380986"/>
                    <a:pt x="7380986" y="9509760"/>
                    <a:pt x="4754880" y="9509760"/>
                  </a:cubicBezTo>
                  <a:cubicBezTo>
                    <a:pt x="2128774" y="9509760"/>
                    <a:pt x="0" y="7380986"/>
                    <a:pt x="0" y="4754880"/>
                  </a:cubicBezTo>
                  <a:close/>
                </a:path>
              </a:pathLst>
            </a:custGeom>
            <a:solidFill>
              <a:srgbClr val="3FB6A8">
                <a:alpha val="1176"/>
              </a:srgbClr>
            </a:solidFill>
          </p:spPr>
        </p:sp>
      </p:grpSp>
      <p:grpSp>
        <p:nvGrpSpPr>
          <p:cNvPr name="Group 6" id="6"/>
          <p:cNvGrpSpPr/>
          <p:nvPr/>
        </p:nvGrpSpPr>
        <p:grpSpPr>
          <a:xfrm rot="0">
            <a:off x="1234440" y="1234440"/>
            <a:ext cx="15773400" cy="548640"/>
            <a:chOff x="0" y="0"/>
            <a:chExt cx="21031200" cy="731520"/>
          </a:xfrm>
        </p:grpSpPr>
        <p:sp>
          <p:nvSpPr>
            <p:cNvPr name="Freeform 7" id="7"/>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3">
                <a:alphaModFix amt="0"/>
              </a:blip>
              <a:stretch>
                <a:fillRect l="0" t="-510194" r="0" b="-510194"/>
              </a:stretch>
            </a:blipFill>
          </p:spPr>
        </p:sp>
        <p:sp>
          <p:nvSpPr>
            <p:cNvPr name="TextBox 8" id="8"/>
            <p:cNvSpPr txBox="true"/>
            <p:nvPr/>
          </p:nvSpPr>
          <p:spPr>
            <a:xfrm>
              <a:off x="0" y="-47625"/>
              <a:ext cx="21031200" cy="779145"/>
            </a:xfrm>
            <a:prstGeom prst="rect">
              <a:avLst/>
            </a:prstGeom>
          </p:spPr>
          <p:txBody>
            <a:bodyPr anchor="ctr" rtlCol="false" tIns="0" lIns="0" bIns="0" rIns="0"/>
            <a:lstStyle/>
            <a:p>
              <a:pPr algn="l">
                <a:lnSpc>
                  <a:spcPts val="2340"/>
                </a:lnSpc>
              </a:pPr>
              <a:r>
                <a:rPr lang="en-US" b="true" sz="1950" spc="300">
                  <a:solidFill>
                    <a:srgbClr val="9FC9CF"/>
                  </a:solidFill>
                  <a:latin typeface="Calibri (MS) Bold"/>
                  <a:ea typeface="Calibri (MS) Bold"/>
                  <a:cs typeface="Calibri (MS) Bold"/>
                  <a:sym typeface="Calibri (MS) Bold"/>
                </a:rPr>
                <a:t>LAPORAN PROJECT AKHIR — MATA KULIAH ANALISIS ALGORITMA</a:t>
              </a:r>
            </a:p>
          </p:txBody>
        </p:sp>
      </p:grpSp>
      <p:grpSp>
        <p:nvGrpSpPr>
          <p:cNvPr name="Group 9" id="9"/>
          <p:cNvGrpSpPr/>
          <p:nvPr/>
        </p:nvGrpSpPr>
        <p:grpSpPr>
          <a:xfrm rot="0">
            <a:off x="1234440" y="2057400"/>
            <a:ext cx="14538960" cy="2743200"/>
            <a:chOff x="0" y="0"/>
            <a:chExt cx="19385280" cy="3657600"/>
          </a:xfrm>
        </p:grpSpPr>
        <p:sp>
          <p:nvSpPr>
            <p:cNvPr name="Freeform 10" id="10"/>
            <p:cNvSpPr/>
            <p:nvPr/>
          </p:nvSpPr>
          <p:spPr>
            <a:xfrm flipH="false" flipV="false" rot="0">
              <a:off x="0" y="0"/>
              <a:ext cx="19385280" cy="3657600"/>
            </a:xfrm>
            <a:custGeom>
              <a:avLst/>
              <a:gdLst/>
              <a:ahLst/>
              <a:cxnLst/>
              <a:rect r="r" b="b" t="t" l="l"/>
              <a:pathLst>
                <a:path h="3657600" w="19385280">
                  <a:moveTo>
                    <a:pt x="0" y="0"/>
                  </a:moveTo>
                  <a:lnTo>
                    <a:pt x="19385280" y="0"/>
                  </a:lnTo>
                  <a:lnTo>
                    <a:pt x="19385280" y="3657600"/>
                  </a:lnTo>
                  <a:lnTo>
                    <a:pt x="0" y="3657600"/>
                  </a:lnTo>
                  <a:close/>
                </a:path>
              </a:pathLst>
            </a:custGeom>
            <a:blipFill>
              <a:blip r:embed="rId3">
                <a:alphaModFix amt="0"/>
              </a:blip>
              <a:stretch>
                <a:fillRect l="0" t="-53270" r="0" b="-53270"/>
              </a:stretch>
            </a:blipFill>
          </p:spPr>
        </p:sp>
        <p:sp>
          <p:nvSpPr>
            <p:cNvPr name="TextBox 11" id="11"/>
            <p:cNvSpPr txBox="true"/>
            <p:nvPr/>
          </p:nvSpPr>
          <p:spPr>
            <a:xfrm>
              <a:off x="0" y="-57150"/>
              <a:ext cx="19385280" cy="3714750"/>
            </a:xfrm>
            <a:prstGeom prst="rect">
              <a:avLst/>
            </a:prstGeom>
          </p:spPr>
          <p:txBody>
            <a:bodyPr anchor="ctr" rtlCol="false" tIns="0" lIns="0" bIns="0" rIns="0"/>
            <a:lstStyle/>
            <a:p>
              <a:pPr algn="l">
                <a:lnSpc>
                  <a:spcPts val="5832"/>
                </a:lnSpc>
              </a:pPr>
              <a:r>
                <a:rPr lang="en-US" sz="4500" b="true">
                  <a:solidFill>
                    <a:srgbClr val="FFFFFF"/>
                  </a:solidFill>
                  <a:latin typeface="Cambria Bold"/>
                  <a:ea typeface="Cambria Bold"/>
                  <a:cs typeface="Cambria Bold"/>
                  <a:sym typeface="Cambria Bold"/>
                </a:rPr>
                <a:t>Implementasi dan Analisis Perbandingan Algoritma FCFS dan Priority Scheduling pada Sistem Antrean Pelayanan Akademik</a:t>
              </a:r>
            </a:p>
          </p:txBody>
        </p:sp>
      </p:grpSp>
      <p:grpSp>
        <p:nvGrpSpPr>
          <p:cNvPr name="Group 12" id="12"/>
          <p:cNvGrpSpPr/>
          <p:nvPr/>
        </p:nvGrpSpPr>
        <p:grpSpPr>
          <a:xfrm rot="0">
            <a:off x="1279208" y="5119688"/>
            <a:ext cx="3065145" cy="47625"/>
            <a:chOff x="0" y="0"/>
            <a:chExt cx="4086860" cy="63500"/>
          </a:xfrm>
        </p:grpSpPr>
        <p:sp>
          <p:nvSpPr>
            <p:cNvPr name="Freeform 13" id="13"/>
            <p:cNvSpPr/>
            <p:nvPr/>
          </p:nvSpPr>
          <p:spPr>
            <a:xfrm flipH="false" flipV="false" rot="0">
              <a:off x="0" y="0"/>
              <a:ext cx="4086860" cy="63500"/>
            </a:xfrm>
            <a:custGeom>
              <a:avLst/>
              <a:gdLst/>
              <a:ahLst/>
              <a:cxnLst/>
              <a:rect r="r" b="b" t="t" l="l"/>
              <a:pathLst>
                <a:path h="63500" w="4086860">
                  <a:moveTo>
                    <a:pt x="0" y="0"/>
                  </a:moveTo>
                  <a:lnTo>
                    <a:pt x="4086860" y="63500"/>
                  </a:lnTo>
                </a:path>
              </a:pathLst>
            </a:custGeom>
            <a:blipFill>
              <a:blip r:embed="rId3">
                <a:alphaModFix amt="0"/>
              </a:blip>
              <a:stretch>
                <a:fillRect l="0" t="-1204057" r="0" b="-1204057"/>
              </a:stretch>
            </a:blipFill>
            <a:ln w="47625" cap="sq">
              <a:solidFill>
                <a:srgbClr val="3FB6A8"/>
              </a:solidFill>
              <a:prstDash val="solid"/>
              <a:miter/>
            </a:ln>
          </p:spPr>
        </p:sp>
      </p:grpSp>
      <p:grpSp>
        <p:nvGrpSpPr>
          <p:cNvPr name="Group 14" id="14"/>
          <p:cNvGrpSpPr/>
          <p:nvPr/>
        </p:nvGrpSpPr>
        <p:grpSpPr>
          <a:xfrm rot="0">
            <a:off x="1234440" y="5417820"/>
            <a:ext cx="14401800" cy="548640"/>
            <a:chOff x="0" y="0"/>
            <a:chExt cx="19202400" cy="731520"/>
          </a:xfrm>
        </p:grpSpPr>
        <p:sp>
          <p:nvSpPr>
            <p:cNvPr name="Freeform 15" id="15"/>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16" id="16"/>
            <p:cNvSpPr txBox="true"/>
            <p:nvPr/>
          </p:nvSpPr>
          <p:spPr>
            <a:xfrm>
              <a:off x="0" y="-47625"/>
              <a:ext cx="19202400" cy="779145"/>
            </a:xfrm>
            <a:prstGeom prst="rect">
              <a:avLst/>
            </a:prstGeom>
          </p:spPr>
          <p:txBody>
            <a:bodyPr anchor="ctr" rtlCol="false" tIns="0" lIns="0" bIns="0" rIns="0"/>
            <a:lstStyle/>
            <a:p>
              <a:pPr algn="l">
                <a:lnSpc>
                  <a:spcPts val="2340"/>
                </a:lnSpc>
              </a:pPr>
              <a:r>
                <a:rPr lang="en-US" sz="1950" i="true">
                  <a:solidFill>
                    <a:srgbClr val="C7DADD"/>
                  </a:solidFill>
                  <a:latin typeface="Calibri (MS) Italics"/>
                  <a:ea typeface="Calibri (MS) Italics"/>
                  <a:cs typeface="Calibri (MS) Italics"/>
                  <a:sym typeface="Calibri (MS) Italics"/>
                </a:rPr>
                <a:t>Program Studi S1 Ilmu Komputer — Fakultas Sains dan Teknologi, Universitas Putra Bangsa, 2026</a:t>
              </a:r>
            </a:p>
          </p:txBody>
        </p:sp>
      </p:grpSp>
      <p:grpSp>
        <p:nvGrpSpPr>
          <p:cNvPr name="Group 17" id="17"/>
          <p:cNvGrpSpPr/>
          <p:nvPr/>
        </p:nvGrpSpPr>
        <p:grpSpPr>
          <a:xfrm rot="0">
            <a:off x="1234440" y="6240780"/>
            <a:ext cx="15773400" cy="2948940"/>
            <a:chOff x="0" y="0"/>
            <a:chExt cx="21031200" cy="3931920"/>
          </a:xfrm>
        </p:grpSpPr>
        <p:sp>
          <p:nvSpPr>
            <p:cNvPr name="Freeform 18" id="18"/>
            <p:cNvSpPr/>
            <p:nvPr/>
          </p:nvSpPr>
          <p:spPr>
            <a:xfrm flipH="false" flipV="false" rot="0">
              <a:off x="0" y="0"/>
              <a:ext cx="21031200" cy="3931920"/>
            </a:xfrm>
            <a:custGeom>
              <a:avLst/>
              <a:gdLst/>
              <a:ahLst/>
              <a:cxnLst/>
              <a:rect r="r" b="b" t="t" l="l"/>
              <a:pathLst>
                <a:path h="3931920" w="21031200">
                  <a:moveTo>
                    <a:pt x="0" y="146304"/>
                  </a:moveTo>
                  <a:cubicBezTo>
                    <a:pt x="0" y="65532"/>
                    <a:pt x="65532" y="0"/>
                    <a:pt x="146304" y="0"/>
                  </a:cubicBezTo>
                  <a:lnTo>
                    <a:pt x="20884896" y="0"/>
                  </a:lnTo>
                  <a:cubicBezTo>
                    <a:pt x="20965668" y="0"/>
                    <a:pt x="21031200" y="65532"/>
                    <a:pt x="21031200" y="146304"/>
                  </a:cubicBezTo>
                  <a:lnTo>
                    <a:pt x="21031200" y="3785616"/>
                  </a:lnTo>
                  <a:cubicBezTo>
                    <a:pt x="21031200" y="3866388"/>
                    <a:pt x="20965668" y="3931920"/>
                    <a:pt x="20884896" y="3931920"/>
                  </a:cubicBezTo>
                  <a:lnTo>
                    <a:pt x="146304" y="3931920"/>
                  </a:lnTo>
                  <a:cubicBezTo>
                    <a:pt x="65532" y="3931920"/>
                    <a:pt x="0" y="3866388"/>
                    <a:pt x="0" y="3785616"/>
                  </a:cubicBezTo>
                  <a:close/>
                </a:path>
              </a:pathLst>
            </a:custGeom>
            <a:solidFill>
              <a:srgbClr val="23375C"/>
            </a:solidFill>
          </p:spPr>
        </p:sp>
      </p:grpSp>
      <p:grpSp>
        <p:nvGrpSpPr>
          <p:cNvPr name="Group 19" id="19"/>
          <p:cNvGrpSpPr/>
          <p:nvPr/>
        </p:nvGrpSpPr>
        <p:grpSpPr>
          <a:xfrm rot="0">
            <a:off x="1714500" y="6473952"/>
            <a:ext cx="5486400" cy="480060"/>
            <a:chOff x="0" y="0"/>
            <a:chExt cx="7315200" cy="640080"/>
          </a:xfrm>
        </p:grpSpPr>
        <p:sp>
          <p:nvSpPr>
            <p:cNvPr name="Freeform 20" id="20"/>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3">
                <a:alphaModFix amt="0"/>
              </a:blip>
              <a:stretch>
                <a:fillRect l="0" t="-172686" r="0" b="-172686"/>
              </a:stretch>
            </a:blipFill>
          </p:spPr>
        </p:sp>
        <p:sp>
          <p:nvSpPr>
            <p:cNvPr name="TextBox 21" id="21"/>
            <p:cNvSpPr txBox="true"/>
            <p:nvPr/>
          </p:nvSpPr>
          <p:spPr>
            <a:xfrm>
              <a:off x="0" y="-47625"/>
              <a:ext cx="7315200" cy="687705"/>
            </a:xfrm>
            <a:prstGeom prst="rect">
              <a:avLst/>
            </a:prstGeom>
          </p:spPr>
          <p:txBody>
            <a:bodyPr anchor="ctr" rtlCol="false" tIns="0" lIns="0" bIns="0" rIns="0"/>
            <a:lstStyle/>
            <a:p>
              <a:pPr algn="l">
                <a:lnSpc>
                  <a:spcPts val="2340"/>
                </a:lnSpc>
              </a:pPr>
              <a:r>
                <a:rPr lang="en-US" sz="1950" b="true">
                  <a:solidFill>
                    <a:srgbClr val="3FB6A8"/>
                  </a:solidFill>
                  <a:latin typeface="Calibri (MS) Bold"/>
                  <a:ea typeface="Calibri (MS) Bold"/>
                  <a:cs typeface="Calibri (MS) Bold"/>
                  <a:sym typeface="Calibri (MS) Bold"/>
                </a:rPr>
                <a:t>Disusun oleh:</a:t>
              </a:r>
            </a:p>
          </p:txBody>
        </p:sp>
      </p:grpSp>
      <p:sp>
        <p:nvSpPr>
          <p:cNvPr name="TextBox 22" id="22"/>
          <p:cNvSpPr txBox="true"/>
          <p:nvPr/>
        </p:nvSpPr>
        <p:spPr>
          <a:xfrm rot="0">
            <a:off x="1805940" y="7198995"/>
            <a:ext cx="6949440" cy="847725"/>
          </a:xfrm>
          <a:prstGeom prst="rect">
            <a:avLst/>
          </a:prstGeom>
        </p:spPr>
        <p:txBody>
          <a:bodyPr anchor="t" rtlCol="false" tIns="0" lIns="0" bIns="0" rIns="0">
            <a:spAutoFit/>
          </a:bodyPr>
          <a:lstStyle/>
          <a:p>
            <a:pPr algn="l">
              <a:lnSpc>
                <a:spcPts val="2520"/>
              </a:lnSpc>
            </a:pPr>
            <a:r>
              <a:rPr lang="en-US" sz="2100" b="true">
                <a:solidFill>
                  <a:srgbClr val="FFFFFF"/>
                </a:solidFill>
                <a:latin typeface="Calibri (MS) Bold"/>
                <a:ea typeface="Calibri (MS) Bold"/>
                <a:cs typeface="Calibri (MS) Bold"/>
                <a:sym typeface="Calibri (MS) Bold"/>
              </a:rPr>
              <a:t>Pasya Awan Rizky Saputro</a:t>
            </a:r>
          </a:p>
          <a:p>
            <a:pPr algn="l">
              <a:lnSpc>
                <a:spcPts val="2520"/>
              </a:lnSpc>
            </a:pPr>
          </a:p>
          <a:p>
            <a:pPr algn="l">
              <a:lnSpc>
                <a:spcPts val="2070"/>
              </a:lnSpc>
            </a:pPr>
            <a:r>
              <a:rPr lang="en-US" sz="1725">
                <a:solidFill>
                  <a:srgbClr val="AEC7CB"/>
                </a:solidFill>
                <a:latin typeface="Calibri (MS)"/>
                <a:ea typeface="Calibri (MS)"/>
                <a:cs typeface="Calibri (MS)"/>
                <a:sym typeface="Calibri (MS)"/>
              </a:rPr>
              <a:t>NIM 250202959</a:t>
            </a:r>
          </a:p>
        </p:txBody>
      </p:sp>
      <p:sp>
        <p:nvSpPr>
          <p:cNvPr name="TextBox 23" id="23"/>
          <p:cNvSpPr txBox="true"/>
          <p:nvPr/>
        </p:nvSpPr>
        <p:spPr>
          <a:xfrm rot="0">
            <a:off x="9486900" y="7198995"/>
            <a:ext cx="6949440" cy="847725"/>
          </a:xfrm>
          <a:prstGeom prst="rect">
            <a:avLst/>
          </a:prstGeom>
        </p:spPr>
        <p:txBody>
          <a:bodyPr anchor="t" rtlCol="false" tIns="0" lIns="0" bIns="0" rIns="0">
            <a:spAutoFit/>
          </a:bodyPr>
          <a:lstStyle/>
          <a:p>
            <a:pPr algn="l">
              <a:lnSpc>
                <a:spcPts val="2520"/>
              </a:lnSpc>
            </a:pPr>
            <a:r>
              <a:rPr lang="en-US" sz="2100" b="true">
                <a:solidFill>
                  <a:srgbClr val="FFFFFF"/>
                </a:solidFill>
                <a:latin typeface="Calibri (MS) Bold"/>
                <a:ea typeface="Calibri (MS) Bold"/>
                <a:cs typeface="Calibri (MS) Bold"/>
                <a:sym typeface="Calibri (MS) Bold"/>
              </a:rPr>
              <a:t>Gilang Ananda Putra</a:t>
            </a:r>
          </a:p>
          <a:p>
            <a:pPr algn="l">
              <a:lnSpc>
                <a:spcPts val="2520"/>
              </a:lnSpc>
            </a:pPr>
          </a:p>
          <a:p>
            <a:pPr algn="l">
              <a:lnSpc>
                <a:spcPts val="2070"/>
              </a:lnSpc>
            </a:pPr>
            <a:r>
              <a:rPr lang="en-US" sz="1725">
                <a:solidFill>
                  <a:srgbClr val="AEC7CB"/>
                </a:solidFill>
                <a:latin typeface="Calibri (MS)"/>
                <a:ea typeface="Calibri (MS)"/>
                <a:cs typeface="Calibri (MS)"/>
                <a:sym typeface="Calibri (MS)"/>
              </a:rPr>
              <a:t>NIM 250202939</a:t>
            </a:r>
          </a:p>
        </p:txBody>
      </p:sp>
      <p:sp>
        <p:nvSpPr>
          <p:cNvPr name="TextBox 24" id="24"/>
          <p:cNvSpPr txBox="true"/>
          <p:nvPr/>
        </p:nvSpPr>
        <p:spPr>
          <a:xfrm rot="0">
            <a:off x="1805940" y="8186547"/>
            <a:ext cx="6949440" cy="847725"/>
          </a:xfrm>
          <a:prstGeom prst="rect">
            <a:avLst/>
          </a:prstGeom>
        </p:spPr>
        <p:txBody>
          <a:bodyPr anchor="t" rtlCol="false" tIns="0" lIns="0" bIns="0" rIns="0">
            <a:spAutoFit/>
          </a:bodyPr>
          <a:lstStyle/>
          <a:p>
            <a:pPr algn="l">
              <a:lnSpc>
                <a:spcPts val="2520"/>
              </a:lnSpc>
            </a:pPr>
            <a:r>
              <a:rPr lang="en-US" sz="2100" b="true">
                <a:solidFill>
                  <a:srgbClr val="FFFFFF"/>
                </a:solidFill>
                <a:latin typeface="Calibri (MS) Bold"/>
                <a:ea typeface="Calibri (MS) Bold"/>
                <a:cs typeface="Calibri (MS) Bold"/>
                <a:sym typeface="Calibri (MS) Bold"/>
              </a:rPr>
              <a:t>Hanif Arundaya Usman</a:t>
            </a:r>
          </a:p>
          <a:p>
            <a:pPr algn="l">
              <a:lnSpc>
                <a:spcPts val="2520"/>
              </a:lnSpc>
            </a:pPr>
          </a:p>
          <a:p>
            <a:pPr algn="l">
              <a:lnSpc>
                <a:spcPts val="2070"/>
              </a:lnSpc>
            </a:pPr>
            <a:r>
              <a:rPr lang="en-US" sz="1725">
                <a:solidFill>
                  <a:srgbClr val="AEC7CB"/>
                </a:solidFill>
                <a:latin typeface="Calibri (MS)"/>
                <a:ea typeface="Calibri (MS)"/>
                <a:cs typeface="Calibri (MS)"/>
                <a:sym typeface="Calibri (MS)"/>
              </a:rPr>
              <a:t>NIM 250202941</a:t>
            </a:r>
          </a:p>
        </p:txBody>
      </p:sp>
      <p:sp>
        <p:nvSpPr>
          <p:cNvPr name="TextBox 25" id="25"/>
          <p:cNvSpPr txBox="true"/>
          <p:nvPr/>
        </p:nvSpPr>
        <p:spPr>
          <a:xfrm rot="0">
            <a:off x="9486900" y="8186547"/>
            <a:ext cx="6949440" cy="847725"/>
          </a:xfrm>
          <a:prstGeom prst="rect">
            <a:avLst/>
          </a:prstGeom>
        </p:spPr>
        <p:txBody>
          <a:bodyPr anchor="t" rtlCol="false" tIns="0" lIns="0" bIns="0" rIns="0">
            <a:spAutoFit/>
          </a:bodyPr>
          <a:lstStyle/>
          <a:p>
            <a:pPr algn="l">
              <a:lnSpc>
                <a:spcPts val="2520"/>
              </a:lnSpc>
            </a:pPr>
            <a:r>
              <a:rPr lang="en-US" sz="2100" b="true">
                <a:solidFill>
                  <a:srgbClr val="FFFFFF"/>
                </a:solidFill>
                <a:latin typeface="Calibri (MS) Bold"/>
                <a:ea typeface="Calibri (MS) Bold"/>
                <a:cs typeface="Calibri (MS) Bold"/>
                <a:sym typeface="Calibri (MS) Bold"/>
              </a:rPr>
              <a:t>April Triadi</a:t>
            </a:r>
          </a:p>
          <a:p>
            <a:pPr algn="l">
              <a:lnSpc>
                <a:spcPts val="2520"/>
              </a:lnSpc>
            </a:pPr>
          </a:p>
          <a:p>
            <a:pPr algn="l">
              <a:lnSpc>
                <a:spcPts val="2070"/>
              </a:lnSpc>
            </a:pPr>
            <a:r>
              <a:rPr lang="en-US" sz="1725">
                <a:solidFill>
                  <a:srgbClr val="AEC7CB"/>
                </a:solidFill>
                <a:latin typeface="Calibri (MS)"/>
                <a:ea typeface="Calibri (MS)"/>
                <a:cs typeface="Calibri (MS)"/>
                <a:sym typeface="Calibri (MS)"/>
              </a:rPr>
              <a:t>NIM 250202930</a:t>
            </a:r>
          </a:p>
        </p:txBody>
      </p:sp>
      <p:grpSp>
        <p:nvGrpSpPr>
          <p:cNvPr name="Group 26" id="26"/>
          <p:cNvGrpSpPr/>
          <p:nvPr/>
        </p:nvGrpSpPr>
        <p:grpSpPr>
          <a:xfrm rot="0">
            <a:off x="1234440" y="9532620"/>
            <a:ext cx="13716000" cy="411480"/>
            <a:chOff x="0" y="0"/>
            <a:chExt cx="18288000" cy="548640"/>
          </a:xfrm>
        </p:grpSpPr>
        <p:sp>
          <p:nvSpPr>
            <p:cNvPr name="Freeform 27" id="27"/>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3">
                <a:alphaModFix amt="0"/>
              </a:blip>
              <a:stretch>
                <a:fillRect l="0" t="-599501" r="0" b="-599501"/>
              </a:stretch>
            </a:blipFill>
          </p:spPr>
        </p:sp>
        <p:sp>
          <p:nvSpPr>
            <p:cNvPr name="TextBox 28" id="28"/>
            <p:cNvSpPr txBox="true"/>
            <p:nvPr/>
          </p:nvSpPr>
          <p:spPr>
            <a:xfrm>
              <a:off x="0" y="-38100"/>
              <a:ext cx="18288000" cy="586740"/>
            </a:xfrm>
            <a:prstGeom prst="rect">
              <a:avLst/>
            </a:prstGeom>
          </p:spPr>
          <p:txBody>
            <a:bodyPr anchor="ctr" rtlCol="false" tIns="0" lIns="0" bIns="0" rIns="0"/>
            <a:lstStyle/>
            <a:p>
              <a:pPr algn="l">
                <a:lnSpc>
                  <a:spcPts val="2070"/>
                </a:lnSpc>
              </a:pPr>
              <a:r>
                <a:rPr lang="en-US" sz="1725" i="true">
                  <a:solidFill>
                    <a:srgbClr val="8FB4B9"/>
                  </a:solidFill>
                  <a:latin typeface="Calibri (MS) Italics"/>
                  <a:ea typeface="Calibri (MS) Italics"/>
                  <a:cs typeface="Calibri (MS) Italics"/>
                  <a:sym typeface="Calibri (MS) Italics"/>
                </a:rPr>
                <a:t>Dosen Pengampu: Awaludin Abid S.Kom., M.Kom.</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43891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0E7C86"/>
                  </a:solidFill>
                  <a:latin typeface="Calibri (MS) Bold"/>
                  <a:ea typeface="Calibri (MS) Bold"/>
                  <a:cs typeface="Calibri (MS) Bold"/>
                  <a:sym typeface="Calibri (MS) Bold"/>
                </a:rPr>
                <a:t>LATAR BELAKANG</a:t>
              </a:r>
            </a:p>
          </p:txBody>
        </p:sp>
      </p:grpSp>
      <p:grpSp>
        <p:nvGrpSpPr>
          <p:cNvPr name="Group 5" id="5"/>
          <p:cNvGrpSpPr/>
          <p:nvPr/>
        </p:nvGrpSpPr>
        <p:grpSpPr>
          <a:xfrm rot="0">
            <a:off x="822960" y="850392"/>
            <a:ext cx="16596360" cy="960120"/>
            <a:chOff x="0" y="0"/>
            <a:chExt cx="22128480" cy="1280160"/>
          </a:xfrm>
        </p:grpSpPr>
        <p:sp>
          <p:nvSpPr>
            <p:cNvPr name="Freeform 6" id="6"/>
            <p:cNvSpPr/>
            <p:nvPr/>
          </p:nvSpPr>
          <p:spPr>
            <a:xfrm flipH="false" flipV="false" rot="0">
              <a:off x="0" y="0"/>
              <a:ext cx="22128480" cy="1280160"/>
            </a:xfrm>
            <a:custGeom>
              <a:avLst/>
              <a:gdLst/>
              <a:ahLst/>
              <a:cxnLst/>
              <a:rect r="r" b="b" t="t" l="l"/>
              <a:pathLst>
                <a:path h="1280160" w="22128480">
                  <a:moveTo>
                    <a:pt x="0" y="0"/>
                  </a:moveTo>
                  <a:lnTo>
                    <a:pt x="22128480" y="0"/>
                  </a:lnTo>
                  <a:lnTo>
                    <a:pt x="22128480" y="1280160"/>
                  </a:lnTo>
                  <a:lnTo>
                    <a:pt x="0" y="1280160"/>
                  </a:lnTo>
                  <a:close/>
                </a:path>
              </a:pathLst>
            </a:custGeom>
            <a:blipFill>
              <a:blip r:embed="rId3">
                <a:alphaModFix amt="0"/>
              </a:blip>
              <a:stretch>
                <a:fillRect l="0" t="-286812" r="0" b="-286812"/>
              </a:stretch>
            </a:blipFill>
          </p:spPr>
        </p:sp>
        <p:sp>
          <p:nvSpPr>
            <p:cNvPr name="TextBox 7" id="7"/>
            <p:cNvSpPr txBox="true"/>
            <p:nvPr/>
          </p:nvSpPr>
          <p:spPr>
            <a:xfrm>
              <a:off x="0" y="-19050"/>
              <a:ext cx="22128480" cy="1299210"/>
            </a:xfrm>
            <a:prstGeom prst="rect">
              <a:avLst/>
            </a:prstGeom>
          </p:spPr>
          <p:txBody>
            <a:bodyPr anchor="ctr" rtlCol="false" tIns="0" lIns="0" bIns="0" rIns="0"/>
            <a:lstStyle/>
            <a:p>
              <a:pPr algn="l">
                <a:lnSpc>
                  <a:spcPts val="5400"/>
                </a:lnSpc>
              </a:pPr>
              <a:r>
                <a:rPr lang="en-US" sz="4500" b="true">
                  <a:solidFill>
                    <a:srgbClr val="1B2A4A"/>
                  </a:solidFill>
                  <a:latin typeface="Cambria Bold"/>
                  <a:ea typeface="Cambria Bold"/>
                  <a:cs typeface="Cambria Bold"/>
                  <a:sym typeface="Cambria Bold"/>
                </a:rPr>
                <a:t>Permasalahan dan Tujuan Project</a:t>
              </a:r>
            </a:p>
          </p:txBody>
        </p:sp>
      </p:grpSp>
      <p:grpSp>
        <p:nvGrpSpPr>
          <p:cNvPr name="Group 8" id="8"/>
          <p:cNvGrpSpPr/>
          <p:nvPr/>
        </p:nvGrpSpPr>
        <p:grpSpPr>
          <a:xfrm rot="0">
            <a:off x="815816" y="1844516"/>
            <a:ext cx="8449628" cy="7352347"/>
            <a:chOff x="0" y="0"/>
            <a:chExt cx="11266170" cy="9803130"/>
          </a:xfrm>
        </p:grpSpPr>
        <p:sp>
          <p:nvSpPr>
            <p:cNvPr name="Freeform 9" id="9"/>
            <p:cNvSpPr/>
            <p:nvPr/>
          </p:nvSpPr>
          <p:spPr>
            <a:xfrm flipH="false" flipV="false" rot="0">
              <a:off x="0" y="0"/>
              <a:ext cx="11266170" cy="9803130"/>
            </a:xfrm>
            <a:custGeom>
              <a:avLst/>
              <a:gdLst/>
              <a:ahLst/>
              <a:cxnLst/>
              <a:rect r="r" b="b" t="t" l="l"/>
              <a:pathLst>
                <a:path h="9803130" w="11266170">
                  <a:moveTo>
                    <a:pt x="0" y="146558"/>
                  </a:moveTo>
                  <a:cubicBezTo>
                    <a:pt x="0" y="65659"/>
                    <a:pt x="65659" y="0"/>
                    <a:pt x="146558" y="0"/>
                  </a:cubicBezTo>
                  <a:lnTo>
                    <a:pt x="11119612" y="0"/>
                  </a:lnTo>
                  <a:cubicBezTo>
                    <a:pt x="11200511" y="0"/>
                    <a:pt x="11266170" y="65659"/>
                    <a:pt x="11266170" y="146558"/>
                  </a:cubicBezTo>
                  <a:lnTo>
                    <a:pt x="11266170" y="9656572"/>
                  </a:lnTo>
                  <a:cubicBezTo>
                    <a:pt x="11266170" y="9737471"/>
                    <a:pt x="11200511" y="9803130"/>
                    <a:pt x="11119612" y="9803130"/>
                  </a:cubicBezTo>
                  <a:lnTo>
                    <a:pt x="146558" y="9803130"/>
                  </a:lnTo>
                  <a:cubicBezTo>
                    <a:pt x="65659" y="9803130"/>
                    <a:pt x="0" y="9737471"/>
                    <a:pt x="0" y="9656572"/>
                  </a:cubicBezTo>
                  <a:close/>
                </a:path>
              </a:pathLst>
            </a:custGeom>
            <a:solidFill>
              <a:srgbClr val="E7F1F4"/>
            </a:solidFill>
            <a:ln w="14288" cap="sq">
              <a:solidFill>
                <a:srgbClr val="D6E4E8"/>
              </a:solidFill>
              <a:prstDash val="solid"/>
              <a:miter/>
            </a:ln>
          </p:spPr>
        </p:sp>
      </p:grpSp>
      <p:grpSp>
        <p:nvGrpSpPr>
          <p:cNvPr name="Group 10" id="10"/>
          <p:cNvGrpSpPr/>
          <p:nvPr/>
        </p:nvGrpSpPr>
        <p:grpSpPr>
          <a:xfrm rot="0">
            <a:off x="1303020" y="2263140"/>
            <a:ext cx="754380" cy="754380"/>
            <a:chOff x="0" y="0"/>
            <a:chExt cx="1005840" cy="1005840"/>
          </a:xfrm>
        </p:grpSpPr>
        <p:sp>
          <p:nvSpPr>
            <p:cNvPr name="Freeform 11" id="11" descr="preencoded.png"/>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lnTo>
                    <a:pt x="0" y="0"/>
                  </a:lnTo>
                  <a:close/>
                </a:path>
              </a:pathLst>
            </a:custGeom>
            <a:blipFill>
              <a:blip r:embed="rId4"/>
              <a:stretch>
                <a:fillRect l="0" t="0" r="0" b="0"/>
              </a:stretch>
            </a:blipFill>
          </p:spPr>
        </p:sp>
      </p:grpSp>
      <p:grpSp>
        <p:nvGrpSpPr>
          <p:cNvPr name="Group 12" id="12"/>
          <p:cNvGrpSpPr/>
          <p:nvPr/>
        </p:nvGrpSpPr>
        <p:grpSpPr>
          <a:xfrm rot="0">
            <a:off x="2263140" y="2304288"/>
            <a:ext cx="6583680" cy="617220"/>
            <a:chOff x="0" y="0"/>
            <a:chExt cx="8778240" cy="822960"/>
          </a:xfrm>
        </p:grpSpPr>
        <p:sp>
          <p:nvSpPr>
            <p:cNvPr name="Freeform 13" id="13"/>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14" id="14"/>
            <p:cNvSpPr txBox="true"/>
            <p:nvPr/>
          </p:nvSpPr>
          <p:spPr>
            <a:xfrm>
              <a:off x="0" y="-19050"/>
              <a:ext cx="8778240" cy="842010"/>
            </a:xfrm>
            <a:prstGeom prst="rect">
              <a:avLst/>
            </a:prstGeom>
          </p:spPr>
          <p:txBody>
            <a:bodyPr anchor="ctr" rtlCol="false" tIns="0" lIns="0" bIns="0" rIns="0"/>
            <a:lstStyle/>
            <a:p>
              <a:pPr algn="l">
                <a:lnSpc>
                  <a:spcPts val="3240"/>
                </a:lnSpc>
              </a:pPr>
              <a:r>
                <a:rPr lang="en-US" sz="2700" b="true">
                  <a:solidFill>
                    <a:srgbClr val="1B2A4A"/>
                  </a:solidFill>
                  <a:latin typeface="Cambria Bold"/>
                  <a:ea typeface="Cambria Bold"/>
                  <a:cs typeface="Cambria Bold"/>
                  <a:sym typeface="Cambria Bold"/>
                </a:rPr>
                <a:t>Permasalahan</a:t>
              </a:r>
            </a:p>
          </p:txBody>
        </p:sp>
      </p:grpSp>
      <p:sp>
        <p:nvSpPr>
          <p:cNvPr name="TextBox 15" id="15"/>
          <p:cNvSpPr txBox="true"/>
          <p:nvPr/>
        </p:nvSpPr>
        <p:spPr>
          <a:xfrm rot="0">
            <a:off x="1394460" y="3152775"/>
            <a:ext cx="7360920" cy="352234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Layanan akademik (legalisasi, surat aktif kuliah, konsultasi, cuti) umumnya diproses dengan antrean manual yang tidak transparan.</a:t>
            </a:r>
          </a:p>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FCFS murni tidak membedakan tingkat urgensi permintaan.</a:t>
            </a:r>
          </a:p>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Permintaan mendesak (mis. cuti dengan tenggat) bisa tertunda karena harus menunggu giliran.</a:t>
            </a:r>
          </a:p>
        </p:txBody>
      </p:sp>
      <p:grpSp>
        <p:nvGrpSpPr>
          <p:cNvPr name="Group 16" id="16"/>
          <p:cNvGrpSpPr/>
          <p:nvPr/>
        </p:nvGrpSpPr>
        <p:grpSpPr>
          <a:xfrm rot="0">
            <a:off x="9525476" y="1844516"/>
            <a:ext cx="7969568" cy="7352347"/>
            <a:chOff x="0" y="0"/>
            <a:chExt cx="10626090" cy="9803130"/>
          </a:xfrm>
        </p:grpSpPr>
        <p:sp>
          <p:nvSpPr>
            <p:cNvPr name="Freeform 17" id="17"/>
            <p:cNvSpPr/>
            <p:nvPr/>
          </p:nvSpPr>
          <p:spPr>
            <a:xfrm flipH="false" flipV="false" rot="0">
              <a:off x="0" y="0"/>
              <a:ext cx="10626089" cy="9803130"/>
            </a:xfrm>
            <a:custGeom>
              <a:avLst/>
              <a:gdLst/>
              <a:ahLst/>
              <a:cxnLst/>
              <a:rect r="r" b="b" t="t" l="l"/>
              <a:pathLst>
                <a:path h="9803130" w="10626089">
                  <a:moveTo>
                    <a:pt x="0" y="146558"/>
                  </a:moveTo>
                  <a:cubicBezTo>
                    <a:pt x="0" y="65659"/>
                    <a:pt x="65659" y="0"/>
                    <a:pt x="146558" y="0"/>
                  </a:cubicBezTo>
                  <a:lnTo>
                    <a:pt x="10479532" y="0"/>
                  </a:lnTo>
                  <a:cubicBezTo>
                    <a:pt x="10560431" y="0"/>
                    <a:pt x="10626089" y="65659"/>
                    <a:pt x="10626089" y="146558"/>
                  </a:cubicBezTo>
                  <a:lnTo>
                    <a:pt x="10626089" y="9656572"/>
                  </a:lnTo>
                  <a:cubicBezTo>
                    <a:pt x="10626089" y="9737471"/>
                    <a:pt x="10560431" y="9803130"/>
                    <a:pt x="10479532" y="9803130"/>
                  </a:cubicBezTo>
                  <a:lnTo>
                    <a:pt x="146558" y="9803130"/>
                  </a:lnTo>
                  <a:cubicBezTo>
                    <a:pt x="65659" y="9803130"/>
                    <a:pt x="0" y="9737471"/>
                    <a:pt x="0" y="9656572"/>
                  </a:cubicBezTo>
                  <a:close/>
                </a:path>
              </a:pathLst>
            </a:custGeom>
            <a:solidFill>
              <a:srgbClr val="FFFFFF"/>
            </a:solidFill>
            <a:ln w="14288" cap="sq">
              <a:solidFill>
                <a:srgbClr val="D6E4E8"/>
              </a:solidFill>
              <a:prstDash val="solid"/>
              <a:miter/>
            </a:ln>
          </p:spPr>
        </p:sp>
      </p:grpSp>
      <p:grpSp>
        <p:nvGrpSpPr>
          <p:cNvPr name="Group 18" id="18"/>
          <p:cNvGrpSpPr/>
          <p:nvPr/>
        </p:nvGrpSpPr>
        <p:grpSpPr>
          <a:xfrm rot="0">
            <a:off x="10012680" y="2263140"/>
            <a:ext cx="754380" cy="754380"/>
            <a:chOff x="0" y="0"/>
            <a:chExt cx="1005840" cy="1005840"/>
          </a:xfrm>
        </p:grpSpPr>
        <p:sp>
          <p:nvSpPr>
            <p:cNvPr name="Freeform 19" id="19" descr="preencoded.png"/>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lnTo>
                    <a:pt x="0" y="0"/>
                  </a:lnTo>
                  <a:close/>
                </a:path>
              </a:pathLst>
            </a:custGeom>
            <a:blipFill>
              <a:blip r:embed="rId5"/>
              <a:stretch>
                <a:fillRect l="0" t="0" r="0" b="0"/>
              </a:stretch>
            </a:blipFill>
          </p:spPr>
        </p:sp>
      </p:grpSp>
      <p:grpSp>
        <p:nvGrpSpPr>
          <p:cNvPr name="Group 20" id="20"/>
          <p:cNvGrpSpPr/>
          <p:nvPr/>
        </p:nvGrpSpPr>
        <p:grpSpPr>
          <a:xfrm rot="0">
            <a:off x="10972800" y="2304288"/>
            <a:ext cx="6309360" cy="617220"/>
            <a:chOff x="0" y="0"/>
            <a:chExt cx="8412480" cy="822960"/>
          </a:xfrm>
        </p:grpSpPr>
        <p:sp>
          <p:nvSpPr>
            <p:cNvPr name="Freeform 21" id="21"/>
            <p:cNvSpPr/>
            <p:nvPr/>
          </p:nvSpPr>
          <p:spPr>
            <a:xfrm flipH="false" flipV="false" rot="0">
              <a:off x="0" y="0"/>
              <a:ext cx="8412480" cy="822960"/>
            </a:xfrm>
            <a:custGeom>
              <a:avLst/>
              <a:gdLst/>
              <a:ahLst/>
              <a:cxnLst/>
              <a:rect r="r" b="b" t="t" l="l"/>
              <a:pathLst>
                <a:path h="822960" w="8412480">
                  <a:moveTo>
                    <a:pt x="0" y="0"/>
                  </a:moveTo>
                  <a:lnTo>
                    <a:pt x="8412480" y="0"/>
                  </a:lnTo>
                  <a:lnTo>
                    <a:pt x="8412480" y="822960"/>
                  </a:lnTo>
                  <a:lnTo>
                    <a:pt x="0" y="822960"/>
                  </a:lnTo>
                  <a:close/>
                </a:path>
              </a:pathLst>
            </a:custGeom>
            <a:blipFill>
              <a:blip r:embed="rId3">
                <a:alphaModFix amt="0"/>
              </a:blip>
              <a:stretch>
                <a:fillRect l="0" t="-149180" r="0" b="-149180"/>
              </a:stretch>
            </a:blipFill>
          </p:spPr>
        </p:sp>
        <p:sp>
          <p:nvSpPr>
            <p:cNvPr name="TextBox 22" id="22"/>
            <p:cNvSpPr txBox="true"/>
            <p:nvPr/>
          </p:nvSpPr>
          <p:spPr>
            <a:xfrm>
              <a:off x="0" y="-19050"/>
              <a:ext cx="8412480" cy="842010"/>
            </a:xfrm>
            <a:prstGeom prst="rect">
              <a:avLst/>
            </a:prstGeom>
          </p:spPr>
          <p:txBody>
            <a:bodyPr anchor="ctr" rtlCol="false" tIns="0" lIns="0" bIns="0" rIns="0"/>
            <a:lstStyle/>
            <a:p>
              <a:pPr algn="l">
                <a:lnSpc>
                  <a:spcPts val="3240"/>
                </a:lnSpc>
              </a:pPr>
              <a:r>
                <a:rPr lang="en-US" sz="2700" b="true">
                  <a:solidFill>
                    <a:srgbClr val="1B2A4A"/>
                  </a:solidFill>
                  <a:latin typeface="Cambria Bold"/>
                  <a:ea typeface="Cambria Bold"/>
                  <a:cs typeface="Cambria Bold"/>
                  <a:sym typeface="Cambria Bold"/>
                </a:rPr>
                <a:t>Tujuan Penelitian</a:t>
              </a:r>
            </a:p>
          </p:txBody>
        </p:sp>
      </p:grpSp>
      <p:sp>
        <p:nvSpPr>
          <p:cNvPr name="TextBox 23" id="23"/>
          <p:cNvSpPr txBox="true"/>
          <p:nvPr/>
        </p:nvSpPr>
        <p:spPr>
          <a:xfrm rot="0">
            <a:off x="10104120" y="3152775"/>
            <a:ext cx="6880860" cy="530542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Mengimplementasikan FCFS (Queue) dan Priority Scheduling (Priority Queue / binary min-heap).</a:t>
            </a:r>
          </a:p>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Menganalisis kompleksitas waktu &amp; ruang kedua algoritma (Big-O).</a:t>
            </a:r>
          </a:p>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Menguji kinerja aktual pada skala 50, 100, 500, dan 1.000 data (5x pengulangan).</a:t>
            </a:r>
          </a:p>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Memberikan rekomendasi algoritma sesuai karakteristik layanan.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43891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0E7C86"/>
                  </a:solidFill>
                  <a:latin typeface="Calibri (MS) Bold"/>
                  <a:ea typeface="Calibri (MS) Bold"/>
                  <a:cs typeface="Calibri (MS) Bold"/>
                  <a:sym typeface="Calibri (MS) Bold"/>
                </a:rPr>
                <a:t>PERBANDINGAN PENDEKATAN</a:t>
              </a:r>
            </a:p>
          </p:txBody>
        </p:sp>
      </p:grpSp>
      <p:grpSp>
        <p:nvGrpSpPr>
          <p:cNvPr name="Group 5" id="5"/>
          <p:cNvGrpSpPr/>
          <p:nvPr/>
        </p:nvGrpSpPr>
        <p:grpSpPr>
          <a:xfrm rot="0">
            <a:off x="822960" y="850392"/>
            <a:ext cx="16596360" cy="960120"/>
            <a:chOff x="0" y="0"/>
            <a:chExt cx="22128480" cy="1280160"/>
          </a:xfrm>
        </p:grpSpPr>
        <p:sp>
          <p:nvSpPr>
            <p:cNvPr name="Freeform 6" id="6"/>
            <p:cNvSpPr/>
            <p:nvPr/>
          </p:nvSpPr>
          <p:spPr>
            <a:xfrm flipH="false" flipV="false" rot="0">
              <a:off x="0" y="0"/>
              <a:ext cx="22128480" cy="1280160"/>
            </a:xfrm>
            <a:custGeom>
              <a:avLst/>
              <a:gdLst/>
              <a:ahLst/>
              <a:cxnLst/>
              <a:rect r="r" b="b" t="t" l="l"/>
              <a:pathLst>
                <a:path h="1280160" w="22128480">
                  <a:moveTo>
                    <a:pt x="0" y="0"/>
                  </a:moveTo>
                  <a:lnTo>
                    <a:pt x="22128480" y="0"/>
                  </a:lnTo>
                  <a:lnTo>
                    <a:pt x="22128480" y="1280160"/>
                  </a:lnTo>
                  <a:lnTo>
                    <a:pt x="0" y="1280160"/>
                  </a:lnTo>
                  <a:close/>
                </a:path>
              </a:pathLst>
            </a:custGeom>
            <a:blipFill>
              <a:blip r:embed="rId3">
                <a:alphaModFix amt="0"/>
              </a:blip>
              <a:stretch>
                <a:fillRect l="0" t="-286812" r="0" b="-286812"/>
              </a:stretch>
            </a:blipFill>
          </p:spPr>
        </p:sp>
        <p:sp>
          <p:nvSpPr>
            <p:cNvPr name="TextBox 7" id="7"/>
            <p:cNvSpPr txBox="true"/>
            <p:nvPr/>
          </p:nvSpPr>
          <p:spPr>
            <a:xfrm>
              <a:off x="0" y="-19050"/>
              <a:ext cx="22128480" cy="1299210"/>
            </a:xfrm>
            <a:prstGeom prst="rect">
              <a:avLst/>
            </a:prstGeom>
          </p:spPr>
          <p:txBody>
            <a:bodyPr anchor="ctr" rtlCol="false" tIns="0" lIns="0" bIns="0" rIns="0"/>
            <a:lstStyle/>
            <a:p>
              <a:pPr algn="l">
                <a:lnSpc>
                  <a:spcPts val="5400"/>
                </a:lnSpc>
              </a:pPr>
              <a:r>
                <a:rPr lang="en-US" sz="4500" b="true">
                  <a:solidFill>
                    <a:srgbClr val="1B2A4A"/>
                  </a:solidFill>
                  <a:latin typeface="Cambria Bold"/>
                  <a:ea typeface="Cambria Bold"/>
                  <a:cs typeface="Cambria Bold"/>
                  <a:sym typeface="Cambria Bold"/>
                </a:rPr>
                <a:t>Algoritma dan Struktur Data</a:t>
              </a:r>
            </a:p>
          </p:txBody>
        </p:sp>
      </p:grpSp>
      <p:grpSp>
        <p:nvGrpSpPr>
          <p:cNvPr name="Group 8" id="8"/>
          <p:cNvGrpSpPr/>
          <p:nvPr/>
        </p:nvGrpSpPr>
        <p:grpSpPr>
          <a:xfrm rot="0">
            <a:off x="815816" y="1844516"/>
            <a:ext cx="8175307" cy="7352347"/>
            <a:chOff x="0" y="0"/>
            <a:chExt cx="10900410" cy="9803130"/>
          </a:xfrm>
        </p:grpSpPr>
        <p:sp>
          <p:nvSpPr>
            <p:cNvPr name="Freeform 9" id="9"/>
            <p:cNvSpPr/>
            <p:nvPr/>
          </p:nvSpPr>
          <p:spPr>
            <a:xfrm flipH="false" flipV="false" rot="0">
              <a:off x="0" y="0"/>
              <a:ext cx="10900410" cy="9803130"/>
            </a:xfrm>
            <a:custGeom>
              <a:avLst/>
              <a:gdLst/>
              <a:ahLst/>
              <a:cxnLst/>
              <a:rect r="r" b="b" t="t" l="l"/>
              <a:pathLst>
                <a:path h="9803130" w="10900410">
                  <a:moveTo>
                    <a:pt x="0" y="146558"/>
                  </a:moveTo>
                  <a:cubicBezTo>
                    <a:pt x="0" y="65659"/>
                    <a:pt x="65659" y="0"/>
                    <a:pt x="146558" y="0"/>
                  </a:cubicBezTo>
                  <a:lnTo>
                    <a:pt x="10753852" y="0"/>
                  </a:lnTo>
                  <a:cubicBezTo>
                    <a:pt x="10834751" y="0"/>
                    <a:pt x="10900410" y="65659"/>
                    <a:pt x="10900410" y="146558"/>
                  </a:cubicBezTo>
                  <a:lnTo>
                    <a:pt x="10900410" y="9656572"/>
                  </a:lnTo>
                  <a:cubicBezTo>
                    <a:pt x="10900410" y="9737471"/>
                    <a:pt x="10834751" y="9803130"/>
                    <a:pt x="10753852" y="9803130"/>
                  </a:cubicBezTo>
                  <a:lnTo>
                    <a:pt x="146558" y="9803130"/>
                  </a:lnTo>
                  <a:cubicBezTo>
                    <a:pt x="65659" y="9803130"/>
                    <a:pt x="0" y="9737471"/>
                    <a:pt x="0" y="9656572"/>
                  </a:cubicBezTo>
                  <a:close/>
                </a:path>
              </a:pathLst>
            </a:custGeom>
            <a:solidFill>
              <a:srgbClr val="1B2A4A"/>
            </a:solidFill>
            <a:ln w="14288" cap="sq">
              <a:solidFill>
                <a:srgbClr val="D6E4E8"/>
              </a:solidFill>
              <a:prstDash val="solid"/>
              <a:miter/>
            </a:ln>
          </p:spPr>
        </p:sp>
      </p:grpSp>
      <p:grpSp>
        <p:nvGrpSpPr>
          <p:cNvPr name="Group 10" id="10"/>
          <p:cNvGrpSpPr/>
          <p:nvPr/>
        </p:nvGrpSpPr>
        <p:grpSpPr>
          <a:xfrm rot="0">
            <a:off x="1303020" y="2263140"/>
            <a:ext cx="891540" cy="891540"/>
            <a:chOff x="0" y="0"/>
            <a:chExt cx="1188720" cy="1188720"/>
          </a:xfrm>
        </p:grpSpPr>
        <p:sp>
          <p:nvSpPr>
            <p:cNvPr name="Freeform 11" id="11"/>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0E7C86"/>
            </a:solidFill>
          </p:spPr>
        </p:sp>
      </p:grpSp>
      <p:grpSp>
        <p:nvGrpSpPr>
          <p:cNvPr name="Group 12" id="12"/>
          <p:cNvGrpSpPr/>
          <p:nvPr/>
        </p:nvGrpSpPr>
        <p:grpSpPr>
          <a:xfrm rot="0">
            <a:off x="1481328" y="2441448"/>
            <a:ext cx="548640" cy="548640"/>
            <a:chOff x="0" y="0"/>
            <a:chExt cx="731520" cy="731520"/>
          </a:xfrm>
        </p:grpSpPr>
        <p:sp>
          <p:nvSpPr>
            <p:cNvPr name="Freeform 13" id="13"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14" id="14"/>
          <p:cNvGrpSpPr/>
          <p:nvPr/>
        </p:nvGrpSpPr>
        <p:grpSpPr>
          <a:xfrm rot="0">
            <a:off x="2468880" y="2304288"/>
            <a:ext cx="6172200" cy="754380"/>
            <a:chOff x="0" y="0"/>
            <a:chExt cx="8229600" cy="1005840"/>
          </a:xfrm>
        </p:grpSpPr>
        <p:sp>
          <p:nvSpPr>
            <p:cNvPr name="Freeform 15" id="15"/>
            <p:cNvSpPr/>
            <p:nvPr/>
          </p:nvSpPr>
          <p:spPr>
            <a:xfrm flipH="false" flipV="false" rot="0">
              <a:off x="0" y="0"/>
              <a:ext cx="8229600" cy="1005840"/>
            </a:xfrm>
            <a:custGeom>
              <a:avLst/>
              <a:gdLst/>
              <a:ahLst/>
              <a:cxnLst/>
              <a:rect r="r" b="b" t="t" l="l"/>
              <a:pathLst>
                <a:path h="1005840" w="8229600">
                  <a:moveTo>
                    <a:pt x="0" y="0"/>
                  </a:moveTo>
                  <a:lnTo>
                    <a:pt x="8229600" y="0"/>
                  </a:lnTo>
                  <a:lnTo>
                    <a:pt x="8229600" y="1005840"/>
                  </a:lnTo>
                  <a:lnTo>
                    <a:pt x="0" y="1005840"/>
                  </a:lnTo>
                  <a:close/>
                </a:path>
              </a:pathLst>
            </a:custGeom>
            <a:blipFill>
              <a:blip r:embed="rId3">
                <a:alphaModFix amt="0"/>
              </a:blip>
              <a:stretch>
                <a:fillRect l="0" t="-109423" r="0" b="-109423"/>
              </a:stretch>
            </a:blipFill>
          </p:spPr>
        </p:sp>
        <p:sp>
          <p:nvSpPr>
            <p:cNvPr name="TextBox 16" id="16"/>
            <p:cNvSpPr txBox="true"/>
            <p:nvPr/>
          </p:nvSpPr>
          <p:spPr>
            <a:xfrm>
              <a:off x="0" y="-9525"/>
              <a:ext cx="8229600" cy="1015365"/>
            </a:xfrm>
            <a:prstGeom prst="rect">
              <a:avLst/>
            </a:prstGeom>
          </p:spPr>
          <p:txBody>
            <a:bodyPr anchor="ctr" rtlCol="false" tIns="0" lIns="0" bIns="0" rIns="0"/>
            <a:lstStyle/>
            <a:p>
              <a:pPr algn="l">
                <a:lnSpc>
                  <a:spcPts val="3960"/>
                </a:lnSpc>
              </a:pPr>
              <a:r>
                <a:rPr lang="en-US" sz="3300" b="true">
                  <a:solidFill>
                    <a:srgbClr val="FFFFFF"/>
                  </a:solidFill>
                  <a:latin typeface="Cambria Bold"/>
                  <a:ea typeface="Cambria Bold"/>
                  <a:cs typeface="Cambria Bold"/>
                  <a:sym typeface="Cambria Bold"/>
                </a:rPr>
                <a:t>FCFS</a:t>
              </a:r>
            </a:p>
          </p:txBody>
        </p:sp>
      </p:grpSp>
      <p:grpSp>
        <p:nvGrpSpPr>
          <p:cNvPr name="Group 17" id="17"/>
          <p:cNvGrpSpPr/>
          <p:nvPr/>
        </p:nvGrpSpPr>
        <p:grpSpPr>
          <a:xfrm rot="0">
            <a:off x="2468880" y="2990088"/>
            <a:ext cx="6172200" cy="411480"/>
            <a:chOff x="0" y="0"/>
            <a:chExt cx="8229600" cy="548640"/>
          </a:xfrm>
        </p:grpSpPr>
        <p:sp>
          <p:nvSpPr>
            <p:cNvPr name="Freeform 18" id="18"/>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3">
                <a:alphaModFix amt="0"/>
              </a:blip>
              <a:stretch>
                <a:fillRect l="0" t="-242275" r="0" b="-242275"/>
              </a:stretch>
            </a:blipFill>
          </p:spPr>
        </p:sp>
        <p:sp>
          <p:nvSpPr>
            <p:cNvPr name="TextBox 19" id="19"/>
            <p:cNvSpPr txBox="true"/>
            <p:nvPr/>
          </p:nvSpPr>
          <p:spPr>
            <a:xfrm>
              <a:off x="0" y="-38100"/>
              <a:ext cx="8229600" cy="586740"/>
            </a:xfrm>
            <a:prstGeom prst="rect">
              <a:avLst/>
            </a:prstGeom>
          </p:spPr>
          <p:txBody>
            <a:bodyPr anchor="ctr" rtlCol="false" tIns="0" lIns="0" bIns="0" rIns="0"/>
            <a:lstStyle/>
            <a:p>
              <a:pPr algn="l">
                <a:lnSpc>
                  <a:spcPts val="2160"/>
                </a:lnSpc>
              </a:pPr>
              <a:r>
                <a:rPr lang="en-US" sz="1800" i="true">
                  <a:solidFill>
                    <a:srgbClr val="9FC9CF"/>
                  </a:solidFill>
                  <a:latin typeface="Calibri (MS) Italics"/>
                  <a:ea typeface="Calibri (MS) Italics"/>
                  <a:cs typeface="Calibri (MS) Italics"/>
                  <a:sym typeface="Calibri (MS) Italics"/>
                </a:rPr>
                <a:t>First Come First Served</a:t>
              </a:r>
            </a:p>
          </p:txBody>
        </p:sp>
      </p:grpSp>
      <p:sp>
        <p:nvSpPr>
          <p:cNvPr name="TextBox 20" id="20"/>
          <p:cNvSpPr txBox="true"/>
          <p:nvPr/>
        </p:nvSpPr>
        <p:spPr>
          <a:xfrm rot="0">
            <a:off x="1531620" y="3769995"/>
            <a:ext cx="6949440" cy="475678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FFFFFF"/>
                </a:solidFill>
                <a:latin typeface="Calibri (MS)"/>
                <a:ea typeface="Calibri (MS)"/>
                <a:cs typeface="Calibri (MS)"/>
                <a:sym typeface="Calibri (MS)"/>
              </a:rPr>
              <a:t>Struktur data: Queue (deque Python)</a:t>
            </a:r>
          </a:p>
          <a:p>
            <a:pPr algn="l" marL="380048" indent="-190024" lvl="1">
              <a:lnSpc>
                <a:spcPts val="2520"/>
              </a:lnSpc>
              <a:buFont typeface="Arial"/>
              <a:buChar char="•"/>
            </a:pPr>
            <a:r>
              <a:rPr lang="en-US" sz="2100">
                <a:solidFill>
                  <a:srgbClr val="FFFFFF"/>
                </a:solidFill>
                <a:latin typeface="Calibri (MS)"/>
                <a:ea typeface="Calibri (MS)"/>
                <a:cs typeface="Calibri (MS)"/>
                <a:sym typeface="Calibri (MS)"/>
              </a:rPr>
              <a:t>Prinsip: FIFO — First In First Out</a:t>
            </a:r>
          </a:p>
          <a:p>
            <a:pPr algn="l" marL="380048" indent="-190024" lvl="1">
              <a:lnSpc>
                <a:spcPts val="2520"/>
              </a:lnSpc>
              <a:buFont typeface="Arial"/>
              <a:buChar char="•"/>
            </a:pPr>
            <a:r>
              <a:rPr lang="en-US" sz="2100">
                <a:solidFill>
                  <a:srgbClr val="FFFFFF"/>
                </a:solidFill>
                <a:latin typeface="Calibri (MS)"/>
                <a:ea typeface="Calibri (MS)"/>
                <a:cs typeface="Calibri (MS)"/>
                <a:sym typeface="Calibri (MS)"/>
              </a:rPr>
              <a:t>Urutan layanan murni berdasarkan waktu kedatangan</a:t>
            </a:r>
          </a:p>
          <a:p>
            <a:pPr algn="l" marL="380048" indent="-190024" lvl="1">
              <a:lnSpc>
                <a:spcPts val="2520"/>
              </a:lnSpc>
              <a:buFont typeface="Arial"/>
              <a:buChar char="•"/>
            </a:pPr>
            <a:r>
              <a:rPr lang="en-US" b="true" sz="2100">
                <a:solidFill>
                  <a:srgbClr val="3FB6A8"/>
                </a:solidFill>
                <a:latin typeface="Calibri (MS) Bold"/>
                <a:ea typeface="Calibri (MS) Bold"/>
                <a:cs typeface="Calibri (MS) Bold"/>
                <a:sym typeface="Calibri (MS) Bold"/>
              </a:rPr>
              <a:t>Operasi enqueue / dequeue: O(1)</a:t>
            </a:r>
          </a:p>
        </p:txBody>
      </p:sp>
      <p:grpSp>
        <p:nvGrpSpPr>
          <p:cNvPr name="Group 21" id="21"/>
          <p:cNvGrpSpPr/>
          <p:nvPr/>
        </p:nvGrpSpPr>
        <p:grpSpPr>
          <a:xfrm rot="0">
            <a:off x="9319736" y="1844516"/>
            <a:ext cx="8175307" cy="7352347"/>
            <a:chOff x="0" y="0"/>
            <a:chExt cx="10900410" cy="9803130"/>
          </a:xfrm>
        </p:grpSpPr>
        <p:sp>
          <p:nvSpPr>
            <p:cNvPr name="Freeform 22" id="22"/>
            <p:cNvSpPr/>
            <p:nvPr/>
          </p:nvSpPr>
          <p:spPr>
            <a:xfrm flipH="false" flipV="false" rot="0">
              <a:off x="0" y="0"/>
              <a:ext cx="10900410" cy="9803130"/>
            </a:xfrm>
            <a:custGeom>
              <a:avLst/>
              <a:gdLst/>
              <a:ahLst/>
              <a:cxnLst/>
              <a:rect r="r" b="b" t="t" l="l"/>
              <a:pathLst>
                <a:path h="9803130" w="10900410">
                  <a:moveTo>
                    <a:pt x="0" y="146558"/>
                  </a:moveTo>
                  <a:cubicBezTo>
                    <a:pt x="0" y="65659"/>
                    <a:pt x="65659" y="0"/>
                    <a:pt x="146558" y="0"/>
                  </a:cubicBezTo>
                  <a:lnTo>
                    <a:pt x="10753852" y="0"/>
                  </a:lnTo>
                  <a:cubicBezTo>
                    <a:pt x="10834751" y="0"/>
                    <a:pt x="10900410" y="65659"/>
                    <a:pt x="10900410" y="146558"/>
                  </a:cubicBezTo>
                  <a:lnTo>
                    <a:pt x="10900410" y="9656572"/>
                  </a:lnTo>
                  <a:cubicBezTo>
                    <a:pt x="10900410" y="9737471"/>
                    <a:pt x="10834751" y="9803130"/>
                    <a:pt x="10753852" y="9803130"/>
                  </a:cubicBezTo>
                  <a:lnTo>
                    <a:pt x="146558" y="9803130"/>
                  </a:lnTo>
                  <a:cubicBezTo>
                    <a:pt x="65659" y="9803130"/>
                    <a:pt x="0" y="9737471"/>
                    <a:pt x="0" y="9656572"/>
                  </a:cubicBezTo>
                  <a:close/>
                </a:path>
              </a:pathLst>
            </a:custGeom>
            <a:solidFill>
              <a:srgbClr val="FFFFFF"/>
            </a:solidFill>
            <a:ln w="14288" cap="sq">
              <a:solidFill>
                <a:srgbClr val="D6E4E8"/>
              </a:solidFill>
              <a:prstDash val="solid"/>
              <a:miter/>
            </a:ln>
          </p:spPr>
        </p:sp>
      </p:grpSp>
      <p:grpSp>
        <p:nvGrpSpPr>
          <p:cNvPr name="Group 23" id="23"/>
          <p:cNvGrpSpPr/>
          <p:nvPr/>
        </p:nvGrpSpPr>
        <p:grpSpPr>
          <a:xfrm rot="0">
            <a:off x="9806940" y="2263140"/>
            <a:ext cx="891540" cy="891540"/>
            <a:chOff x="0" y="0"/>
            <a:chExt cx="1188720" cy="1188720"/>
          </a:xfrm>
        </p:grpSpPr>
        <p:sp>
          <p:nvSpPr>
            <p:cNvPr name="Freeform 24" id="24"/>
            <p:cNvSpPr/>
            <p:nvPr/>
          </p:nvSpPr>
          <p:spPr>
            <a:xfrm flipH="false" flipV="false" rot="0">
              <a:off x="0" y="0"/>
              <a:ext cx="1188720" cy="1188720"/>
            </a:xfrm>
            <a:custGeom>
              <a:avLst/>
              <a:gdLst/>
              <a:ahLst/>
              <a:cxnLst/>
              <a:rect r="r" b="b" t="t" l="l"/>
              <a:pathLst>
                <a:path h="1188720" w="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655"/>
                    <a:pt x="0" y="594360"/>
                  </a:cubicBezTo>
                  <a:close/>
                </a:path>
              </a:pathLst>
            </a:custGeom>
            <a:solidFill>
              <a:srgbClr val="1B2A4A"/>
            </a:solidFill>
          </p:spPr>
        </p:sp>
      </p:grpSp>
      <p:grpSp>
        <p:nvGrpSpPr>
          <p:cNvPr name="Group 25" id="25"/>
          <p:cNvGrpSpPr/>
          <p:nvPr/>
        </p:nvGrpSpPr>
        <p:grpSpPr>
          <a:xfrm rot="0">
            <a:off x="9985248" y="2441448"/>
            <a:ext cx="548640" cy="548640"/>
            <a:chOff x="0" y="0"/>
            <a:chExt cx="731520" cy="731520"/>
          </a:xfrm>
        </p:grpSpPr>
        <p:sp>
          <p:nvSpPr>
            <p:cNvPr name="Freeform 26" id="26"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7" id="27"/>
          <p:cNvGrpSpPr/>
          <p:nvPr/>
        </p:nvGrpSpPr>
        <p:grpSpPr>
          <a:xfrm rot="0">
            <a:off x="10972800" y="2304288"/>
            <a:ext cx="6309360" cy="754380"/>
            <a:chOff x="0" y="0"/>
            <a:chExt cx="8412480" cy="1005840"/>
          </a:xfrm>
        </p:grpSpPr>
        <p:sp>
          <p:nvSpPr>
            <p:cNvPr name="Freeform 28" id="28"/>
            <p:cNvSpPr/>
            <p:nvPr/>
          </p:nvSpPr>
          <p:spPr>
            <a:xfrm flipH="false" flipV="false" rot="0">
              <a:off x="0" y="0"/>
              <a:ext cx="8412480" cy="1005840"/>
            </a:xfrm>
            <a:custGeom>
              <a:avLst/>
              <a:gdLst/>
              <a:ahLst/>
              <a:cxnLst/>
              <a:rect r="r" b="b" t="t" l="l"/>
              <a:pathLst>
                <a:path h="1005840" w="8412480">
                  <a:moveTo>
                    <a:pt x="0" y="0"/>
                  </a:moveTo>
                  <a:lnTo>
                    <a:pt x="8412480" y="0"/>
                  </a:lnTo>
                  <a:lnTo>
                    <a:pt x="8412480" y="1005840"/>
                  </a:lnTo>
                  <a:lnTo>
                    <a:pt x="0" y="1005840"/>
                  </a:lnTo>
                  <a:close/>
                </a:path>
              </a:pathLst>
            </a:custGeom>
            <a:blipFill>
              <a:blip r:embed="rId3">
                <a:alphaModFix amt="0"/>
              </a:blip>
              <a:stretch>
                <a:fillRect l="0" t="-112965" r="0" b="-112965"/>
              </a:stretch>
            </a:blipFill>
          </p:spPr>
        </p:sp>
        <p:sp>
          <p:nvSpPr>
            <p:cNvPr name="TextBox 29" id="29"/>
            <p:cNvSpPr txBox="true"/>
            <p:nvPr/>
          </p:nvSpPr>
          <p:spPr>
            <a:xfrm>
              <a:off x="0" y="-9525"/>
              <a:ext cx="8412480" cy="1015365"/>
            </a:xfrm>
            <a:prstGeom prst="rect">
              <a:avLst/>
            </a:prstGeom>
          </p:spPr>
          <p:txBody>
            <a:bodyPr anchor="ctr" rtlCol="false" tIns="0" lIns="0" bIns="0" rIns="0"/>
            <a:lstStyle/>
            <a:p>
              <a:pPr algn="l">
                <a:lnSpc>
                  <a:spcPts val="3960"/>
                </a:lnSpc>
              </a:pPr>
              <a:r>
                <a:rPr lang="en-US" sz="3300" b="true">
                  <a:solidFill>
                    <a:srgbClr val="1B2A4A"/>
                  </a:solidFill>
                  <a:latin typeface="Cambria Bold"/>
                  <a:ea typeface="Cambria Bold"/>
                  <a:cs typeface="Cambria Bold"/>
                  <a:sym typeface="Cambria Bold"/>
                </a:rPr>
                <a:t>Priority Scheduling</a:t>
              </a:r>
            </a:p>
          </p:txBody>
        </p:sp>
      </p:grpSp>
      <p:grpSp>
        <p:nvGrpSpPr>
          <p:cNvPr name="Group 30" id="30"/>
          <p:cNvGrpSpPr/>
          <p:nvPr/>
        </p:nvGrpSpPr>
        <p:grpSpPr>
          <a:xfrm rot="0">
            <a:off x="10972800" y="2990088"/>
            <a:ext cx="6309360" cy="411480"/>
            <a:chOff x="0" y="0"/>
            <a:chExt cx="8412480" cy="548640"/>
          </a:xfrm>
        </p:grpSpPr>
        <p:sp>
          <p:nvSpPr>
            <p:cNvPr name="Freeform 31" id="31"/>
            <p:cNvSpPr/>
            <p:nvPr/>
          </p:nvSpPr>
          <p:spPr>
            <a:xfrm flipH="false" flipV="false" rot="0">
              <a:off x="0" y="0"/>
              <a:ext cx="8412480" cy="548640"/>
            </a:xfrm>
            <a:custGeom>
              <a:avLst/>
              <a:gdLst/>
              <a:ahLst/>
              <a:cxnLst/>
              <a:rect r="r" b="b" t="t" l="l"/>
              <a:pathLst>
                <a:path h="548640" w="8412480">
                  <a:moveTo>
                    <a:pt x="0" y="0"/>
                  </a:moveTo>
                  <a:lnTo>
                    <a:pt x="8412480" y="0"/>
                  </a:lnTo>
                  <a:lnTo>
                    <a:pt x="8412480" y="548640"/>
                  </a:lnTo>
                  <a:lnTo>
                    <a:pt x="0" y="548640"/>
                  </a:lnTo>
                  <a:close/>
                </a:path>
              </a:pathLst>
            </a:custGeom>
            <a:blipFill>
              <a:blip r:embed="rId3">
                <a:alphaModFix amt="0"/>
              </a:blip>
              <a:stretch>
                <a:fillRect l="0" t="-248770" r="0" b="-248770"/>
              </a:stretch>
            </a:blipFill>
          </p:spPr>
        </p:sp>
        <p:sp>
          <p:nvSpPr>
            <p:cNvPr name="TextBox 32" id="32"/>
            <p:cNvSpPr txBox="true"/>
            <p:nvPr/>
          </p:nvSpPr>
          <p:spPr>
            <a:xfrm>
              <a:off x="0" y="-38100"/>
              <a:ext cx="8412480" cy="586740"/>
            </a:xfrm>
            <a:prstGeom prst="rect">
              <a:avLst/>
            </a:prstGeom>
          </p:spPr>
          <p:txBody>
            <a:bodyPr anchor="ctr" rtlCol="false" tIns="0" lIns="0" bIns="0" rIns="0"/>
            <a:lstStyle/>
            <a:p>
              <a:pPr algn="l">
                <a:lnSpc>
                  <a:spcPts val="2160"/>
                </a:lnSpc>
              </a:pPr>
              <a:r>
                <a:rPr lang="en-US" sz="1800" i="true">
                  <a:solidFill>
                    <a:srgbClr val="0E7C86"/>
                  </a:solidFill>
                  <a:latin typeface="Calibri (MS) Italics"/>
                  <a:ea typeface="Calibri (MS) Italics"/>
                  <a:cs typeface="Calibri (MS) Italics"/>
                  <a:sym typeface="Calibri (MS) Italics"/>
                </a:rPr>
                <a:t>Berbasis Tingkat Prioritas</a:t>
              </a:r>
            </a:p>
          </p:txBody>
        </p:sp>
      </p:grpSp>
      <p:sp>
        <p:nvSpPr>
          <p:cNvPr name="TextBox 33" id="33"/>
          <p:cNvSpPr txBox="true"/>
          <p:nvPr/>
        </p:nvSpPr>
        <p:spPr>
          <a:xfrm rot="0">
            <a:off x="10035540" y="3769995"/>
            <a:ext cx="6949440" cy="475678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Struktur data: Priority Queue — binary min-heap manual (array/list)</a:t>
            </a:r>
          </a:p>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Kunci pembanding: (prioritas, waktu_kedatangan)</a:t>
            </a:r>
          </a:p>
          <a:p>
            <a:pPr algn="l" marL="380048" indent="-190024" lvl="1">
              <a:lnSpc>
                <a:spcPts val="2520"/>
              </a:lnSpc>
              <a:buFont typeface="Arial"/>
              <a:buChar char="•"/>
            </a:pPr>
            <a:r>
              <a:rPr lang="en-US" sz="2100">
                <a:solidFill>
                  <a:srgbClr val="44546A"/>
                </a:solidFill>
                <a:latin typeface="Calibri (MS)"/>
                <a:ea typeface="Calibri (MS)"/>
                <a:cs typeface="Calibri (MS)"/>
                <a:sym typeface="Calibri (MS)"/>
              </a:rPr>
              <a:t>Nilai prioritas lebih kecil = prioritas lebih tinggi, diproses lebih dahulu</a:t>
            </a:r>
          </a:p>
          <a:p>
            <a:pPr algn="l" marL="380048" indent="-190024" lvl="1">
              <a:lnSpc>
                <a:spcPts val="2520"/>
              </a:lnSpc>
              <a:buFont typeface="Arial"/>
              <a:buChar char="•"/>
            </a:pPr>
            <a:r>
              <a:rPr lang="en-US" b="true" sz="2100">
                <a:solidFill>
                  <a:srgbClr val="C0562A"/>
                </a:solidFill>
                <a:latin typeface="Calibri (MS) Bold"/>
                <a:ea typeface="Calibri (MS) Bold"/>
                <a:cs typeface="Calibri (MS) Bold"/>
                <a:sym typeface="Calibri (MS) Bold"/>
              </a:rPr>
              <a:t>Operasi insert / extract_min: O(log n)</a:t>
            </a:r>
          </a:p>
        </p:txBody>
      </p:sp>
    </p:spTree>
  </p:cSld>
  <p:clrMapOvr>
    <a:masterClrMapping/>
  </p:clrMapOvr>
  <p:transition spd="fast">
    <p:wipe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43891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0E7C86"/>
                  </a:solidFill>
                  <a:latin typeface="Calibri (MS) Bold"/>
                  <a:ea typeface="Calibri (MS) Bold"/>
                  <a:cs typeface="Calibri (MS) Bold"/>
                  <a:sym typeface="Calibri (MS) Bold"/>
                </a:rPr>
                <a:t>ALUR &amp; STRUKTUR MODUL</a:t>
              </a:r>
            </a:p>
          </p:txBody>
        </p:sp>
      </p:grpSp>
      <p:grpSp>
        <p:nvGrpSpPr>
          <p:cNvPr name="Group 5" id="5"/>
          <p:cNvGrpSpPr/>
          <p:nvPr/>
        </p:nvGrpSpPr>
        <p:grpSpPr>
          <a:xfrm rot="0">
            <a:off x="822960" y="850392"/>
            <a:ext cx="16596360" cy="960120"/>
            <a:chOff x="0" y="0"/>
            <a:chExt cx="22128480" cy="1280160"/>
          </a:xfrm>
        </p:grpSpPr>
        <p:sp>
          <p:nvSpPr>
            <p:cNvPr name="Freeform 6" id="6"/>
            <p:cNvSpPr/>
            <p:nvPr/>
          </p:nvSpPr>
          <p:spPr>
            <a:xfrm flipH="false" flipV="false" rot="0">
              <a:off x="0" y="0"/>
              <a:ext cx="22128480" cy="1280160"/>
            </a:xfrm>
            <a:custGeom>
              <a:avLst/>
              <a:gdLst/>
              <a:ahLst/>
              <a:cxnLst/>
              <a:rect r="r" b="b" t="t" l="l"/>
              <a:pathLst>
                <a:path h="1280160" w="22128480">
                  <a:moveTo>
                    <a:pt x="0" y="0"/>
                  </a:moveTo>
                  <a:lnTo>
                    <a:pt x="22128480" y="0"/>
                  </a:lnTo>
                  <a:lnTo>
                    <a:pt x="22128480" y="1280160"/>
                  </a:lnTo>
                  <a:lnTo>
                    <a:pt x="0" y="1280160"/>
                  </a:lnTo>
                  <a:close/>
                </a:path>
              </a:pathLst>
            </a:custGeom>
            <a:blipFill>
              <a:blip r:embed="rId3">
                <a:alphaModFix amt="0"/>
              </a:blip>
              <a:stretch>
                <a:fillRect l="0" t="-286812" r="0" b="-286812"/>
              </a:stretch>
            </a:blipFill>
          </p:spPr>
        </p:sp>
        <p:sp>
          <p:nvSpPr>
            <p:cNvPr name="TextBox 7" id="7"/>
            <p:cNvSpPr txBox="true"/>
            <p:nvPr/>
          </p:nvSpPr>
          <p:spPr>
            <a:xfrm>
              <a:off x="0" y="-19050"/>
              <a:ext cx="22128480" cy="1299210"/>
            </a:xfrm>
            <a:prstGeom prst="rect">
              <a:avLst/>
            </a:prstGeom>
          </p:spPr>
          <p:txBody>
            <a:bodyPr anchor="ctr" rtlCol="false" tIns="0" lIns="0" bIns="0" rIns="0"/>
            <a:lstStyle/>
            <a:p>
              <a:pPr algn="l">
                <a:lnSpc>
                  <a:spcPts val="5400"/>
                </a:lnSpc>
              </a:pPr>
              <a:r>
                <a:rPr lang="en-US" sz="4500" b="true">
                  <a:solidFill>
                    <a:srgbClr val="1B2A4A"/>
                  </a:solidFill>
                  <a:latin typeface="Cambria Bold"/>
                  <a:ea typeface="Cambria Bold"/>
                  <a:cs typeface="Cambria Bold"/>
                  <a:sym typeface="Cambria Bold"/>
                </a:rPr>
                <a:t>Cara Kerja Program</a:t>
              </a:r>
            </a:p>
          </p:txBody>
        </p:sp>
      </p:grpSp>
      <p:grpSp>
        <p:nvGrpSpPr>
          <p:cNvPr name="Group 8" id="8"/>
          <p:cNvGrpSpPr/>
          <p:nvPr/>
        </p:nvGrpSpPr>
        <p:grpSpPr>
          <a:xfrm rot="0">
            <a:off x="813435" y="1842135"/>
            <a:ext cx="7562850" cy="869442"/>
            <a:chOff x="0" y="0"/>
            <a:chExt cx="10083800" cy="1159256"/>
          </a:xfrm>
        </p:grpSpPr>
        <p:sp>
          <p:nvSpPr>
            <p:cNvPr name="Freeform 9" id="9"/>
            <p:cNvSpPr/>
            <p:nvPr/>
          </p:nvSpPr>
          <p:spPr>
            <a:xfrm flipH="false" flipV="false" rot="0">
              <a:off x="0" y="0"/>
              <a:ext cx="10083800" cy="1159256"/>
            </a:xfrm>
            <a:custGeom>
              <a:avLst/>
              <a:gdLst/>
              <a:ahLst/>
              <a:cxnLst/>
              <a:rect r="r" b="b" t="t" l="l"/>
              <a:pathLst>
                <a:path h="1159256" w="10083800">
                  <a:moveTo>
                    <a:pt x="0" y="112141"/>
                  </a:moveTo>
                  <a:cubicBezTo>
                    <a:pt x="0" y="50165"/>
                    <a:pt x="50165" y="0"/>
                    <a:pt x="112141" y="0"/>
                  </a:cubicBezTo>
                  <a:lnTo>
                    <a:pt x="9971659" y="0"/>
                  </a:lnTo>
                  <a:cubicBezTo>
                    <a:pt x="10033635" y="0"/>
                    <a:pt x="10083800" y="50165"/>
                    <a:pt x="10083800" y="112141"/>
                  </a:cubicBezTo>
                  <a:lnTo>
                    <a:pt x="10083800" y="1047115"/>
                  </a:lnTo>
                  <a:cubicBezTo>
                    <a:pt x="10083800" y="1109091"/>
                    <a:pt x="10033635" y="1159256"/>
                    <a:pt x="9971659" y="1159256"/>
                  </a:cubicBezTo>
                  <a:lnTo>
                    <a:pt x="112141" y="1159256"/>
                  </a:lnTo>
                  <a:cubicBezTo>
                    <a:pt x="50165" y="1159256"/>
                    <a:pt x="0" y="1109091"/>
                    <a:pt x="0" y="1047115"/>
                  </a:cubicBezTo>
                  <a:close/>
                </a:path>
              </a:pathLst>
            </a:custGeom>
            <a:solidFill>
              <a:srgbClr val="E7F1F4"/>
            </a:solidFill>
            <a:ln w="19050" cap="sq">
              <a:solidFill>
                <a:srgbClr val="0E7C86"/>
              </a:solidFill>
              <a:prstDash val="solid"/>
              <a:miter/>
            </a:ln>
          </p:spPr>
        </p:sp>
      </p:grpSp>
      <p:grpSp>
        <p:nvGrpSpPr>
          <p:cNvPr name="Group 10" id="10"/>
          <p:cNvGrpSpPr/>
          <p:nvPr/>
        </p:nvGrpSpPr>
        <p:grpSpPr>
          <a:xfrm rot="0">
            <a:off x="987552" y="1851660"/>
            <a:ext cx="548640" cy="850392"/>
            <a:chOff x="0" y="0"/>
            <a:chExt cx="731520" cy="1133856"/>
          </a:xfrm>
        </p:grpSpPr>
        <p:sp>
          <p:nvSpPr>
            <p:cNvPr name="Freeform 11" id="11"/>
            <p:cNvSpPr/>
            <p:nvPr/>
          </p:nvSpPr>
          <p:spPr>
            <a:xfrm flipH="false" flipV="false" rot="0">
              <a:off x="0" y="0"/>
              <a:ext cx="731520" cy="1133856"/>
            </a:xfrm>
            <a:custGeom>
              <a:avLst/>
              <a:gdLst/>
              <a:ahLst/>
              <a:cxnLst/>
              <a:rect r="r" b="b" t="t" l="l"/>
              <a:pathLst>
                <a:path h="1133856" w="731520">
                  <a:moveTo>
                    <a:pt x="0" y="0"/>
                  </a:moveTo>
                  <a:lnTo>
                    <a:pt x="731520" y="0"/>
                  </a:lnTo>
                  <a:lnTo>
                    <a:pt x="731520" y="1133856"/>
                  </a:lnTo>
                  <a:lnTo>
                    <a:pt x="0" y="1133856"/>
                  </a:lnTo>
                  <a:close/>
                </a:path>
              </a:pathLst>
            </a:custGeom>
            <a:solidFill>
              <a:srgbClr val="0E7C86"/>
            </a:solidFill>
          </p:spPr>
        </p:sp>
        <p:sp>
          <p:nvSpPr>
            <p:cNvPr name="TextBox 12" id="12"/>
            <p:cNvSpPr txBox="true"/>
            <p:nvPr/>
          </p:nvSpPr>
          <p:spPr>
            <a:xfrm>
              <a:off x="0" y="-47625"/>
              <a:ext cx="731520" cy="1181481"/>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13" id="13"/>
          <p:cNvGrpSpPr/>
          <p:nvPr/>
        </p:nvGrpSpPr>
        <p:grpSpPr>
          <a:xfrm rot="0">
            <a:off x="1714500" y="1851660"/>
            <a:ext cx="6515100" cy="850392"/>
            <a:chOff x="0" y="0"/>
            <a:chExt cx="8686800" cy="1133856"/>
          </a:xfrm>
        </p:grpSpPr>
        <p:sp>
          <p:nvSpPr>
            <p:cNvPr name="Freeform 14" id="14"/>
            <p:cNvSpPr/>
            <p:nvPr/>
          </p:nvSpPr>
          <p:spPr>
            <a:xfrm flipH="false" flipV="false" rot="0">
              <a:off x="0" y="0"/>
              <a:ext cx="8686800" cy="1133856"/>
            </a:xfrm>
            <a:custGeom>
              <a:avLst/>
              <a:gdLst/>
              <a:ahLst/>
              <a:cxnLst/>
              <a:rect r="r" b="b" t="t" l="l"/>
              <a:pathLst>
                <a:path h="1133856" w="8686800">
                  <a:moveTo>
                    <a:pt x="0" y="0"/>
                  </a:moveTo>
                  <a:lnTo>
                    <a:pt x="8686800" y="0"/>
                  </a:lnTo>
                  <a:lnTo>
                    <a:pt x="8686800" y="1133856"/>
                  </a:lnTo>
                  <a:lnTo>
                    <a:pt x="0" y="1133856"/>
                  </a:lnTo>
                  <a:close/>
                </a:path>
              </a:pathLst>
            </a:custGeom>
            <a:blipFill>
              <a:blip r:embed="rId3">
                <a:alphaModFix amt="0"/>
              </a:blip>
              <a:stretch>
                <a:fillRect l="0" t="-99280" r="0" b="-99280"/>
              </a:stretch>
            </a:blipFill>
          </p:spPr>
        </p:sp>
        <p:sp>
          <p:nvSpPr>
            <p:cNvPr name="TextBox 15" id="15"/>
            <p:cNvSpPr txBox="true"/>
            <p:nvPr/>
          </p:nvSpPr>
          <p:spPr>
            <a:xfrm>
              <a:off x="0" y="-47625"/>
              <a:ext cx="8686800" cy="1181481"/>
            </a:xfrm>
            <a:prstGeom prst="rect">
              <a:avLst/>
            </a:prstGeom>
          </p:spPr>
          <p:txBody>
            <a:bodyPr anchor="ctr" rtlCol="false" tIns="0" lIns="0" bIns="0" rIns="0"/>
            <a:lstStyle/>
            <a:p>
              <a:pPr algn="l">
                <a:lnSpc>
                  <a:spcPts val="2340"/>
                </a:lnSpc>
              </a:pPr>
              <a:r>
                <a:rPr lang="en-US" sz="1950" b="true">
                  <a:solidFill>
                    <a:srgbClr val="1B2A4A"/>
                  </a:solidFill>
                  <a:latin typeface="Calibri (MS) Bold"/>
                  <a:ea typeface="Calibri (MS) Bold"/>
                  <a:cs typeface="Calibri (MS) Bold"/>
                  <a:sym typeface="Calibri (MS) Bold"/>
                </a:rPr>
                <a:t>Dataset CSV</a:t>
              </a:r>
            </a:p>
          </p:txBody>
        </p:sp>
      </p:grpSp>
      <p:sp>
        <p:nvSpPr>
          <p:cNvPr name="TextBox 16" id="16"/>
          <p:cNvSpPr txBox="true"/>
          <p:nvPr/>
        </p:nvSpPr>
        <p:spPr>
          <a:xfrm rot="0">
            <a:off x="4480560" y="2735580"/>
            <a:ext cx="228600" cy="51054"/>
          </a:xfrm>
          <a:prstGeom prst="rect">
            <a:avLst/>
          </a:prstGeom>
        </p:spPr>
        <p:txBody>
          <a:bodyPr anchor="t" rtlCol="false" tIns="0" lIns="0" bIns="0" rIns="0">
            <a:spAutoFit/>
          </a:bodyPr>
          <a:lstStyle/>
          <a:p>
            <a:pPr algn="ctr">
              <a:lnSpc>
                <a:spcPts val="1439"/>
              </a:lnSpc>
            </a:pPr>
            <a:r>
              <a:rPr lang="en-US" sz="1200">
                <a:solidFill>
                  <a:srgbClr val="0E7C86"/>
                </a:solidFill>
                <a:latin typeface="Arial"/>
                <a:ea typeface="Arial"/>
                <a:cs typeface="Arial"/>
                <a:sym typeface="Arial"/>
              </a:rPr>
              <a:t>▼</a:t>
            </a:r>
          </a:p>
        </p:txBody>
      </p:sp>
      <p:grpSp>
        <p:nvGrpSpPr>
          <p:cNvPr name="Group 17" id="17"/>
          <p:cNvGrpSpPr/>
          <p:nvPr/>
        </p:nvGrpSpPr>
        <p:grpSpPr>
          <a:xfrm rot="0">
            <a:off x="813435" y="2829687"/>
            <a:ext cx="7562850" cy="869442"/>
            <a:chOff x="0" y="0"/>
            <a:chExt cx="10083800" cy="1159256"/>
          </a:xfrm>
        </p:grpSpPr>
        <p:sp>
          <p:nvSpPr>
            <p:cNvPr name="Freeform 18" id="18"/>
            <p:cNvSpPr/>
            <p:nvPr/>
          </p:nvSpPr>
          <p:spPr>
            <a:xfrm flipH="false" flipV="false" rot="0">
              <a:off x="0" y="0"/>
              <a:ext cx="10083800" cy="1159256"/>
            </a:xfrm>
            <a:custGeom>
              <a:avLst/>
              <a:gdLst/>
              <a:ahLst/>
              <a:cxnLst/>
              <a:rect r="r" b="b" t="t" l="l"/>
              <a:pathLst>
                <a:path h="1159256" w="10083800">
                  <a:moveTo>
                    <a:pt x="0" y="112141"/>
                  </a:moveTo>
                  <a:cubicBezTo>
                    <a:pt x="0" y="50165"/>
                    <a:pt x="50165" y="0"/>
                    <a:pt x="112141" y="0"/>
                  </a:cubicBezTo>
                  <a:lnTo>
                    <a:pt x="9971659" y="0"/>
                  </a:lnTo>
                  <a:cubicBezTo>
                    <a:pt x="10033635" y="0"/>
                    <a:pt x="10083800" y="50165"/>
                    <a:pt x="10083800" y="112141"/>
                  </a:cubicBezTo>
                  <a:lnTo>
                    <a:pt x="10083800" y="1047115"/>
                  </a:lnTo>
                  <a:cubicBezTo>
                    <a:pt x="10083800" y="1109091"/>
                    <a:pt x="10033635" y="1159256"/>
                    <a:pt x="9971659" y="1159256"/>
                  </a:cubicBezTo>
                  <a:lnTo>
                    <a:pt x="112141" y="1159256"/>
                  </a:lnTo>
                  <a:cubicBezTo>
                    <a:pt x="50165" y="1159256"/>
                    <a:pt x="0" y="1109091"/>
                    <a:pt x="0" y="1047115"/>
                  </a:cubicBezTo>
                  <a:close/>
                </a:path>
              </a:pathLst>
            </a:custGeom>
            <a:solidFill>
              <a:srgbClr val="FFFFFF"/>
            </a:solidFill>
            <a:ln w="19050" cap="sq">
              <a:solidFill>
                <a:srgbClr val="0E7C86"/>
              </a:solidFill>
              <a:prstDash val="solid"/>
              <a:miter/>
            </a:ln>
          </p:spPr>
        </p:sp>
      </p:grpSp>
      <p:grpSp>
        <p:nvGrpSpPr>
          <p:cNvPr name="Group 19" id="19"/>
          <p:cNvGrpSpPr/>
          <p:nvPr/>
        </p:nvGrpSpPr>
        <p:grpSpPr>
          <a:xfrm rot="0">
            <a:off x="987552" y="2839212"/>
            <a:ext cx="548640" cy="850392"/>
            <a:chOff x="0" y="0"/>
            <a:chExt cx="731520" cy="1133856"/>
          </a:xfrm>
        </p:grpSpPr>
        <p:sp>
          <p:nvSpPr>
            <p:cNvPr name="Freeform 20" id="20"/>
            <p:cNvSpPr/>
            <p:nvPr/>
          </p:nvSpPr>
          <p:spPr>
            <a:xfrm flipH="false" flipV="false" rot="0">
              <a:off x="0" y="0"/>
              <a:ext cx="731520" cy="1133856"/>
            </a:xfrm>
            <a:custGeom>
              <a:avLst/>
              <a:gdLst/>
              <a:ahLst/>
              <a:cxnLst/>
              <a:rect r="r" b="b" t="t" l="l"/>
              <a:pathLst>
                <a:path h="1133856" w="731520">
                  <a:moveTo>
                    <a:pt x="0" y="0"/>
                  </a:moveTo>
                  <a:lnTo>
                    <a:pt x="731520" y="0"/>
                  </a:lnTo>
                  <a:lnTo>
                    <a:pt x="731520" y="1133856"/>
                  </a:lnTo>
                  <a:lnTo>
                    <a:pt x="0" y="1133856"/>
                  </a:lnTo>
                  <a:close/>
                </a:path>
              </a:pathLst>
            </a:custGeom>
            <a:solidFill>
              <a:srgbClr val="0E7C86"/>
            </a:solidFill>
          </p:spPr>
        </p:sp>
        <p:sp>
          <p:nvSpPr>
            <p:cNvPr name="TextBox 21" id="21"/>
            <p:cNvSpPr txBox="true"/>
            <p:nvPr/>
          </p:nvSpPr>
          <p:spPr>
            <a:xfrm>
              <a:off x="0" y="-47625"/>
              <a:ext cx="731520" cy="1181481"/>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22" id="22"/>
          <p:cNvGrpSpPr/>
          <p:nvPr/>
        </p:nvGrpSpPr>
        <p:grpSpPr>
          <a:xfrm rot="0">
            <a:off x="1714500" y="2839212"/>
            <a:ext cx="6515100" cy="850392"/>
            <a:chOff x="0" y="0"/>
            <a:chExt cx="8686800" cy="1133856"/>
          </a:xfrm>
        </p:grpSpPr>
        <p:sp>
          <p:nvSpPr>
            <p:cNvPr name="Freeform 23" id="23"/>
            <p:cNvSpPr/>
            <p:nvPr/>
          </p:nvSpPr>
          <p:spPr>
            <a:xfrm flipH="false" flipV="false" rot="0">
              <a:off x="0" y="0"/>
              <a:ext cx="8686800" cy="1133856"/>
            </a:xfrm>
            <a:custGeom>
              <a:avLst/>
              <a:gdLst/>
              <a:ahLst/>
              <a:cxnLst/>
              <a:rect r="r" b="b" t="t" l="l"/>
              <a:pathLst>
                <a:path h="1133856" w="8686800">
                  <a:moveTo>
                    <a:pt x="0" y="0"/>
                  </a:moveTo>
                  <a:lnTo>
                    <a:pt x="8686800" y="0"/>
                  </a:lnTo>
                  <a:lnTo>
                    <a:pt x="8686800" y="1133856"/>
                  </a:lnTo>
                  <a:lnTo>
                    <a:pt x="0" y="1133856"/>
                  </a:lnTo>
                  <a:close/>
                </a:path>
              </a:pathLst>
            </a:custGeom>
            <a:blipFill>
              <a:blip r:embed="rId3">
                <a:alphaModFix amt="0"/>
              </a:blip>
              <a:stretch>
                <a:fillRect l="0" t="-99280" r="0" b="-99280"/>
              </a:stretch>
            </a:blipFill>
          </p:spPr>
        </p:sp>
        <p:sp>
          <p:nvSpPr>
            <p:cNvPr name="TextBox 24" id="24"/>
            <p:cNvSpPr txBox="true"/>
            <p:nvPr/>
          </p:nvSpPr>
          <p:spPr>
            <a:xfrm>
              <a:off x="0" y="-47625"/>
              <a:ext cx="8686800" cy="1181481"/>
            </a:xfrm>
            <a:prstGeom prst="rect">
              <a:avLst/>
            </a:prstGeom>
          </p:spPr>
          <p:txBody>
            <a:bodyPr anchor="ctr" rtlCol="false" tIns="0" lIns="0" bIns="0" rIns="0"/>
            <a:lstStyle/>
            <a:p>
              <a:pPr algn="l">
                <a:lnSpc>
                  <a:spcPts val="2340"/>
                </a:lnSpc>
              </a:pPr>
              <a:r>
                <a:rPr lang="en-US" sz="1950" b="true">
                  <a:solidFill>
                    <a:srgbClr val="1B2A4A"/>
                  </a:solidFill>
                  <a:latin typeface="Calibri (MS) Bold"/>
                  <a:ea typeface="Calibri (MS) Bold"/>
                  <a:cs typeface="Calibri (MS) Bold"/>
                  <a:sym typeface="Calibri (MS) Bold"/>
                </a:rPr>
                <a:t>Validasi &amp; Pemuatan Data</a:t>
              </a:r>
            </a:p>
          </p:txBody>
        </p:sp>
      </p:grpSp>
      <p:sp>
        <p:nvSpPr>
          <p:cNvPr name="TextBox 25" id="25"/>
          <p:cNvSpPr txBox="true"/>
          <p:nvPr/>
        </p:nvSpPr>
        <p:spPr>
          <a:xfrm rot="0">
            <a:off x="4480560" y="3723132"/>
            <a:ext cx="228600" cy="51054"/>
          </a:xfrm>
          <a:prstGeom prst="rect">
            <a:avLst/>
          </a:prstGeom>
        </p:spPr>
        <p:txBody>
          <a:bodyPr anchor="t" rtlCol="false" tIns="0" lIns="0" bIns="0" rIns="0">
            <a:spAutoFit/>
          </a:bodyPr>
          <a:lstStyle/>
          <a:p>
            <a:pPr algn="ctr">
              <a:lnSpc>
                <a:spcPts val="1439"/>
              </a:lnSpc>
            </a:pPr>
            <a:r>
              <a:rPr lang="en-US" sz="1200">
                <a:solidFill>
                  <a:srgbClr val="0E7C86"/>
                </a:solidFill>
                <a:latin typeface="Arial"/>
                <a:ea typeface="Arial"/>
                <a:cs typeface="Arial"/>
                <a:sym typeface="Arial"/>
              </a:rPr>
              <a:t>▼</a:t>
            </a:r>
          </a:p>
        </p:txBody>
      </p:sp>
      <p:grpSp>
        <p:nvGrpSpPr>
          <p:cNvPr name="Group 26" id="26"/>
          <p:cNvGrpSpPr/>
          <p:nvPr/>
        </p:nvGrpSpPr>
        <p:grpSpPr>
          <a:xfrm rot="0">
            <a:off x="813435" y="3817239"/>
            <a:ext cx="7562850" cy="869442"/>
            <a:chOff x="0" y="0"/>
            <a:chExt cx="10083800" cy="1159256"/>
          </a:xfrm>
        </p:grpSpPr>
        <p:sp>
          <p:nvSpPr>
            <p:cNvPr name="Freeform 27" id="27"/>
            <p:cNvSpPr/>
            <p:nvPr/>
          </p:nvSpPr>
          <p:spPr>
            <a:xfrm flipH="false" flipV="false" rot="0">
              <a:off x="0" y="0"/>
              <a:ext cx="10083800" cy="1159256"/>
            </a:xfrm>
            <a:custGeom>
              <a:avLst/>
              <a:gdLst/>
              <a:ahLst/>
              <a:cxnLst/>
              <a:rect r="r" b="b" t="t" l="l"/>
              <a:pathLst>
                <a:path h="1159256" w="10083800">
                  <a:moveTo>
                    <a:pt x="0" y="112141"/>
                  </a:moveTo>
                  <a:cubicBezTo>
                    <a:pt x="0" y="50165"/>
                    <a:pt x="50165" y="0"/>
                    <a:pt x="112141" y="0"/>
                  </a:cubicBezTo>
                  <a:lnTo>
                    <a:pt x="9971659" y="0"/>
                  </a:lnTo>
                  <a:cubicBezTo>
                    <a:pt x="10033635" y="0"/>
                    <a:pt x="10083800" y="50165"/>
                    <a:pt x="10083800" y="112141"/>
                  </a:cubicBezTo>
                  <a:lnTo>
                    <a:pt x="10083800" y="1047115"/>
                  </a:lnTo>
                  <a:cubicBezTo>
                    <a:pt x="10083800" y="1109091"/>
                    <a:pt x="10033635" y="1159256"/>
                    <a:pt x="9971659" y="1159256"/>
                  </a:cubicBezTo>
                  <a:lnTo>
                    <a:pt x="112141" y="1159256"/>
                  </a:lnTo>
                  <a:cubicBezTo>
                    <a:pt x="50165" y="1159256"/>
                    <a:pt x="0" y="1109091"/>
                    <a:pt x="0" y="1047115"/>
                  </a:cubicBezTo>
                  <a:close/>
                </a:path>
              </a:pathLst>
            </a:custGeom>
            <a:solidFill>
              <a:srgbClr val="E7F1F4"/>
            </a:solidFill>
            <a:ln w="19050" cap="sq">
              <a:solidFill>
                <a:srgbClr val="0E7C86"/>
              </a:solidFill>
              <a:prstDash val="solid"/>
              <a:miter/>
            </a:ln>
          </p:spPr>
        </p:sp>
      </p:grpSp>
      <p:grpSp>
        <p:nvGrpSpPr>
          <p:cNvPr name="Group 28" id="28"/>
          <p:cNvGrpSpPr/>
          <p:nvPr/>
        </p:nvGrpSpPr>
        <p:grpSpPr>
          <a:xfrm rot="0">
            <a:off x="987552" y="3826764"/>
            <a:ext cx="548640" cy="850392"/>
            <a:chOff x="0" y="0"/>
            <a:chExt cx="731520" cy="1133856"/>
          </a:xfrm>
        </p:grpSpPr>
        <p:sp>
          <p:nvSpPr>
            <p:cNvPr name="Freeform 29" id="29"/>
            <p:cNvSpPr/>
            <p:nvPr/>
          </p:nvSpPr>
          <p:spPr>
            <a:xfrm flipH="false" flipV="false" rot="0">
              <a:off x="0" y="0"/>
              <a:ext cx="731520" cy="1133856"/>
            </a:xfrm>
            <a:custGeom>
              <a:avLst/>
              <a:gdLst/>
              <a:ahLst/>
              <a:cxnLst/>
              <a:rect r="r" b="b" t="t" l="l"/>
              <a:pathLst>
                <a:path h="1133856" w="731520">
                  <a:moveTo>
                    <a:pt x="0" y="0"/>
                  </a:moveTo>
                  <a:lnTo>
                    <a:pt x="731520" y="0"/>
                  </a:lnTo>
                  <a:lnTo>
                    <a:pt x="731520" y="1133856"/>
                  </a:lnTo>
                  <a:lnTo>
                    <a:pt x="0" y="1133856"/>
                  </a:lnTo>
                  <a:close/>
                </a:path>
              </a:pathLst>
            </a:custGeom>
            <a:solidFill>
              <a:srgbClr val="0E7C86"/>
            </a:solidFill>
          </p:spPr>
        </p:sp>
        <p:sp>
          <p:nvSpPr>
            <p:cNvPr name="TextBox 30" id="30"/>
            <p:cNvSpPr txBox="true"/>
            <p:nvPr/>
          </p:nvSpPr>
          <p:spPr>
            <a:xfrm>
              <a:off x="0" y="-47625"/>
              <a:ext cx="731520" cy="1181481"/>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31" id="31"/>
          <p:cNvGrpSpPr/>
          <p:nvPr/>
        </p:nvGrpSpPr>
        <p:grpSpPr>
          <a:xfrm rot="0">
            <a:off x="1714500" y="3826764"/>
            <a:ext cx="6515100" cy="850392"/>
            <a:chOff x="0" y="0"/>
            <a:chExt cx="8686800" cy="1133856"/>
          </a:xfrm>
        </p:grpSpPr>
        <p:sp>
          <p:nvSpPr>
            <p:cNvPr name="Freeform 32" id="32"/>
            <p:cNvSpPr/>
            <p:nvPr/>
          </p:nvSpPr>
          <p:spPr>
            <a:xfrm flipH="false" flipV="false" rot="0">
              <a:off x="0" y="0"/>
              <a:ext cx="8686800" cy="1133856"/>
            </a:xfrm>
            <a:custGeom>
              <a:avLst/>
              <a:gdLst/>
              <a:ahLst/>
              <a:cxnLst/>
              <a:rect r="r" b="b" t="t" l="l"/>
              <a:pathLst>
                <a:path h="1133856" w="8686800">
                  <a:moveTo>
                    <a:pt x="0" y="0"/>
                  </a:moveTo>
                  <a:lnTo>
                    <a:pt x="8686800" y="0"/>
                  </a:lnTo>
                  <a:lnTo>
                    <a:pt x="8686800" y="1133856"/>
                  </a:lnTo>
                  <a:lnTo>
                    <a:pt x="0" y="1133856"/>
                  </a:lnTo>
                  <a:close/>
                </a:path>
              </a:pathLst>
            </a:custGeom>
            <a:blipFill>
              <a:blip r:embed="rId3">
                <a:alphaModFix amt="0"/>
              </a:blip>
              <a:stretch>
                <a:fillRect l="0" t="-99280" r="0" b="-99280"/>
              </a:stretch>
            </a:blipFill>
          </p:spPr>
        </p:sp>
        <p:sp>
          <p:nvSpPr>
            <p:cNvPr name="TextBox 33" id="33"/>
            <p:cNvSpPr txBox="true"/>
            <p:nvPr/>
          </p:nvSpPr>
          <p:spPr>
            <a:xfrm>
              <a:off x="0" y="-47625"/>
              <a:ext cx="8686800" cy="1181481"/>
            </a:xfrm>
            <a:prstGeom prst="rect">
              <a:avLst/>
            </a:prstGeom>
          </p:spPr>
          <p:txBody>
            <a:bodyPr anchor="ctr" rtlCol="false" tIns="0" lIns="0" bIns="0" rIns="0"/>
            <a:lstStyle/>
            <a:p>
              <a:pPr algn="l">
                <a:lnSpc>
                  <a:spcPts val="2340"/>
                </a:lnSpc>
              </a:pPr>
              <a:r>
                <a:rPr lang="en-US" sz="1950" b="true">
                  <a:solidFill>
                    <a:srgbClr val="1B2A4A"/>
                  </a:solidFill>
                  <a:latin typeface="Calibri (MS) Bold"/>
                  <a:ea typeface="Calibri (MS) Bold"/>
                  <a:cs typeface="Calibri (MS) Bold"/>
                  <a:sym typeface="Calibri (MS) Bold"/>
                </a:rPr>
                <a:t>Pilih Algoritma</a:t>
              </a:r>
            </a:p>
          </p:txBody>
        </p:sp>
      </p:grpSp>
      <p:sp>
        <p:nvSpPr>
          <p:cNvPr name="TextBox 34" id="34"/>
          <p:cNvSpPr txBox="true"/>
          <p:nvPr/>
        </p:nvSpPr>
        <p:spPr>
          <a:xfrm rot="0">
            <a:off x="4480560" y="4710684"/>
            <a:ext cx="228600" cy="51054"/>
          </a:xfrm>
          <a:prstGeom prst="rect">
            <a:avLst/>
          </a:prstGeom>
        </p:spPr>
        <p:txBody>
          <a:bodyPr anchor="t" rtlCol="false" tIns="0" lIns="0" bIns="0" rIns="0">
            <a:spAutoFit/>
          </a:bodyPr>
          <a:lstStyle/>
          <a:p>
            <a:pPr algn="ctr">
              <a:lnSpc>
                <a:spcPts val="1439"/>
              </a:lnSpc>
            </a:pPr>
            <a:r>
              <a:rPr lang="en-US" sz="1200">
                <a:solidFill>
                  <a:srgbClr val="0E7C86"/>
                </a:solidFill>
                <a:latin typeface="Arial"/>
                <a:ea typeface="Arial"/>
                <a:cs typeface="Arial"/>
                <a:sym typeface="Arial"/>
              </a:rPr>
              <a:t>▼</a:t>
            </a:r>
          </a:p>
        </p:txBody>
      </p:sp>
      <p:grpSp>
        <p:nvGrpSpPr>
          <p:cNvPr name="Group 35" id="35"/>
          <p:cNvGrpSpPr/>
          <p:nvPr/>
        </p:nvGrpSpPr>
        <p:grpSpPr>
          <a:xfrm rot="0">
            <a:off x="813435" y="4804791"/>
            <a:ext cx="7562850" cy="869442"/>
            <a:chOff x="0" y="0"/>
            <a:chExt cx="10083800" cy="1159256"/>
          </a:xfrm>
        </p:grpSpPr>
        <p:sp>
          <p:nvSpPr>
            <p:cNvPr name="Freeform 36" id="36"/>
            <p:cNvSpPr/>
            <p:nvPr/>
          </p:nvSpPr>
          <p:spPr>
            <a:xfrm flipH="false" flipV="false" rot="0">
              <a:off x="0" y="0"/>
              <a:ext cx="10083800" cy="1159256"/>
            </a:xfrm>
            <a:custGeom>
              <a:avLst/>
              <a:gdLst/>
              <a:ahLst/>
              <a:cxnLst/>
              <a:rect r="r" b="b" t="t" l="l"/>
              <a:pathLst>
                <a:path h="1159256" w="10083800">
                  <a:moveTo>
                    <a:pt x="0" y="112141"/>
                  </a:moveTo>
                  <a:cubicBezTo>
                    <a:pt x="0" y="50165"/>
                    <a:pt x="50165" y="0"/>
                    <a:pt x="112141" y="0"/>
                  </a:cubicBezTo>
                  <a:lnTo>
                    <a:pt x="9971659" y="0"/>
                  </a:lnTo>
                  <a:cubicBezTo>
                    <a:pt x="10033635" y="0"/>
                    <a:pt x="10083800" y="50165"/>
                    <a:pt x="10083800" y="112141"/>
                  </a:cubicBezTo>
                  <a:lnTo>
                    <a:pt x="10083800" y="1047115"/>
                  </a:lnTo>
                  <a:cubicBezTo>
                    <a:pt x="10083800" y="1109091"/>
                    <a:pt x="10033635" y="1159256"/>
                    <a:pt x="9971659" y="1159256"/>
                  </a:cubicBezTo>
                  <a:lnTo>
                    <a:pt x="112141" y="1159256"/>
                  </a:lnTo>
                  <a:cubicBezTo>
                    <a:pt x="50165" y="1159256"/>
                    <a:pt x="0" y="1109091"/>
                    <a:pt x="0" y="1047115"/>
                  </a:cubicBezTo>
                  <a:close/>
                </a:path>
              </a:pathLst>
            </a:custGeom>
            <a:solidFill>
              <a:srgbClr val="FFFFFF"/>
            </a:solidFill>
            <a:ln w="19050" cap="sq">
              <a:solidFill>
                <a:srgbClr val="0E7C86"/>
              </a:solidFill>
              <a:prstDash val="solid"/>
              <a:miter/>
            </a:ln>
          </p:spPr>
        </p:sp>
      </p:grpSp>
      <p:grpSp>
        <p:nvGrpSpPr>
          <p:cNvPr name="Group 37" id="37"/>
          <p:cNvGrpSpPr/>
          <p:nvPr/>
        </p:nvGrpSpPr>
        <p:grpSpPr>
          <a:xfrm rot="0">
            <a:off x="987552" y="4814316"/>
            <a:ext cx="548640" cy="850392"/>
            <a:chOff x="0" y="0"/>
            <a:chExt cx="731520" cy="1133856"/>
          </a:xfrm>
        </p:grpSpPr>
        <p:sp>
          <p:nvSpPr>
            <p:cNvPr name="Freeform 38" id="38"/>
            <p:cNvSpPr/>
            <p:nvPr/>
          </p:nvSpPr>
          <p:spPr>
            <a:xfrm flipH="false" flipV="false" rot="0">
              <a:off x="0" y="0"/>
              <a:ext cx="731520" cy="1133856"/>
            </a:xfrm>
            <a:custGeom>
              <a:avLst/>
              <a:gdLst/>
              <a:ahLst/>
              <a:cxnLst/>
              <a:rect r="r" b="b" t="t" l="l"/>
              <a:pathLst>
                <a:path h="1133856" w="731520">
                  <a:moveTo>
                    <a:pt x="0" y="0"/>
                  </a:moveTo>
                  <a:lnTo>
                    <a:pt x="731520" y="0"/>
                  </a:lnTo>
                  <a:lnTo>
                    <a:pt x="731520" y="1133856"/>
                  </a:lnTo>
                  <a:lnTo>
                    <a:pt x="0" y="1133856"/>
                  </a:lnTo>
                  <a:close/>
                </a:path>
              </a:pathLst>
            </a:custGeom>
            <a:solidFill>
              <a:srgbClr val="0E7C86"/>
            </a:solidFill>
          </p:spPr>
        </p:sp>
        <p:sp>
          <p:nvSpPr>
            <p:cNvPr name="TextBox 39" id="39"/>
            <p:cNvSpPr txBox="true"/>
            <p:nvPr/>
          </p:nvSpPr>
          <p:spPr>
            <a:xfrm>
              <a:off x="0" y="-47625"/>
              <a:ext cx="731520" cy="1181481"/>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4</a:t>
              </a:r>
            </a:p>
          </p:txBody>
        </p:sp>
      </p:grpSp>
      <p:grpSp>
        <p:nvGrpSpPr>
          <p:cNvPr name="Group 40" id="40"/>
          <p:cNvGrpSpPr/>
          <p:nvPr/>
        </p:nvGrpSpPr>
        <p:grpSpPr>
          <a:xfrm rot="0">
            <a:off x="1714500" y="4814316"/>
            <a:ext cx="6515100" cy="850392"/>
            <a:chOff x="0" y="0"/>
            <a:chExt cx="8686800" cy="1133856"/>
          </a:xfrm>
        </p:grpSpPr>
        <p:sp>
          <p:nvSpPr>
            <p:cNvPr name="Freeform 41" id="41"/>
            <p:cNvSpPr/>
            <p:nvPr/>
          </p:nvSpPr>
          <p:spPr>
            <a:xfrm flipH="false" flipV="false" rot="0">
              <a:off x="0" y="0"/>
              <a:ext cx="8686800" cy="1133856"/>
            </a:xfrm>
            <a:custGeom>
              <a:avLst/>
              <a:gdLst/>
              <a:ahLst/>
              <a:cxnLst/>
              <a:rect r="r" b="b" t="t" l="l"/>
              <a:pathLst>
                <a:path h="1133856" w="8686800">
                  <a:moveTo>
                    <a:pt x="0" y="0"/>
                  </a:moveTo>
                  <a:lnTo>
                    <a:pt x="8686800" y="0"/>
                  </a:lnTo>
                  <a:lnTo>
                    <a:pt x="8686800" y="1133856"/>
                  </a:lnTo>
                  <a:lnTo>
                    <a:pt x="0" y="1133856"/>
                  </a:lnTo>
                  <a:close/>
                </a:path>
              </a:pathLst>
            </a:custGeom>
            <a:blipFill>
              <a:blip r:embed="rId3">
                <a:alphaModFix amt="0"/>
              </a:blip>
              <a:stretch>
                <a:fillRect l="0" t="-99280" r="0" b="-99280"/>
              </a:stretch>
            </a:blipFill>
          </p:spPr>
        </p:sp>
        <p:sp>
          <p:nvSpPr>
            <p:cNvPr name="TextBox 42" id="42"/>
            <p:cNvSpPr txBox="true"/>
            <p:nvPr/>
          </p:nvSpPr>
          <p:spPr>
            <a:xfrm>
              <a:off x="0" y="-47625"/>
              <a:ext cx="8686800" cy="1181481"/>
            </a:xfrm>
            <a:prstGeom prst="rect">
              <a:avLst/>
            </a:prstGeom>
          </p:spPr>
          <p:txBody>
            <a:bodyPr anchor="ctr" rtlCol="false" tIns="0" lIns="0" bIns="0" rIns="0"/>
            <a:lstStyle/>
            <a:p>
              <a:pPr algn="l">
                <a:lnSpc>
                  <a:spcPts val="2340"/>
                </a:lnSpc>
              </a:pPr>
              <a:r>
                <a:rPr lang="en-US" sz="1950" b="true">
                  <a:solidFill>
                    <a:srgbClr val="1B2A4A"/>
                  </a:solidFill>
                  <a:latin typeface="Calibri (MS) Bold"/>
                  <a:ea typeface="Calibri (MS) Bold"/>
                  <a:cs typeface="Calibri (MS) Bold"/>
                  <a:sym typeface="Calibri (MS) Bold"/>
                </a:rPr>
                <a:t>FCFS / Priority Scheduling</a:t>
              </a:r>
            </a:p>
          </p:txBody>
        </p:sp>
      </p:grpSp>
      <p:sp>
        <p:nvSpPr>
          <p:cNvPr name="TextBox 43" id="43"/>
          <p:cNvSpPr txBox="true"/>
          <p:nvPr/>
        </p:nvSpPr>
        <p:spPr>
          <a:xfrm rot="0">
            <a:off x="4480560" y="5698236"/>
            <a:ext cx="228600" cy="51054"/>
          </a:xfrm>
          <a:prstGeom prst="rect">
            <a:avLst/>
          </a:prstGeom>
        </p:spPr>
        <p:txBody>
          <a:bodyPr anchor="t" rtlCol="false" tIns="0" lIns="0" bIns="0" rIns="0">
            <a:spAutoFit/>
          </a:bodyPr>
          <a:lstStyle/>
          <a:p>
            <a:pPr algn="ctr">
              <a:lnSpc>
                <a:spcPts val="1439"/>
              </a:lnSpc>
            </a:pPr>
            <a:r>
              <a:rPr lang="en-US" sz="1200">
                <a:solidFill>
                  <a:srgbClr val="0E7C86"/>
                </a:solidFill>
                <a:latin typeface="Arial"/>
                <a:ea typeface="Arial"/>
                <a:cs typeface="Arial"/>
                <a:sym typeface="Arial"/>
              </a:rPr>
              <a:t>▼</a:t>
            </a:r>
          </a:p>
        </p:txBody>
      </p:sp>
      <p:grpSp>
        <p:nvGrpSpPr>
          <p:cNvPr name="Group 44" id="44"/>
          <p:cNvGrpSpPr/>
          <p:nvPr/>
        </p:nvGrpSpPr>
        <p:grpSpPr>
          <a:xfrm rot="0">
            <a:off x="813435" y="5792343"/>
            <a:ext cx="7562850" cy="869442"/>
            <a:chOff x="0" y="0"/>
            <a:chExt cx="10083800" cy="1159256"/>
          </a:xfrm>
        </p:grpSpPr>
        <p:sp>
          <p:nvSpPr>
            <p:cNvPr name="Freeform 45" id="45"/>
            <p:cNvSpPr/>
            <p:nvPr/>
          </p:nvSpPr>
          <p:spPr>
            <a:xfrm flipH="false" flipV="false" rot="0">
              <a:off x="0" y="0"/>
              <a:ext cx="10083800" cy="1159256"/>
            </a:xfrm>
            <a:custGeom>
              <a:avLst/>
              <a:gdLst/>
              <a:ahLst/>
              <a:cxnLst/>
              <a:rect r="r" b="b" t="t" l="l"/>
              <a:pathLst>
                <a:path h="1159256" w="10083800">
                  <a:moveTo>
                    <a:pt x="0" y="112141"/>
                  </a:moveTo>
                  <a:cubicBezTo>
                    <a:pt x="0" y="50165"/>
                    <a:pt x="50165" y="0"/>
                    <a:pt x="112141" y="0"/>
                  </a:cubicBezTo>
                  <a:lnTo>
                    <a:pt x="9971659" y="0"/>
                  </a:lnTo>
                  <a:cubicBezTo>
                    <a:pt x="10033635" y="0"/>
                    <a:pt x="10083800" y="50165"/>
                    <a:pt x="10083800" y="112141"/>
                  </a:cubicBezTo>
                  <a:lnTo>
                    <a:pt x="10083800" y="1047115"/>
                  </a:lnTo>
                  <a:cubicBezTo>
                    <a:pt x="10083800" y="1109091"/>
                    <a:pt x="10033635" y="1159256"/>
                    <a:pt x="9971659" y="1159256"/>
                  </a:cubicBezTo>
                  <a:lnTo>
                    <a:pt x="112141" y="1159256"/>
                  </a:lnTo>
                  <a:cubicBezTo>
                    <a:pt x="50165" y="1159256"/>
                    <a:pt x="0" y="1109091"/>
                    <a:pt x="0" y="1047115"/>
                  </a:cubicBezTo>
                  <a:close/>
                </a:path>
              </a:pathLst>
            </a:custGeom>
            <a:solidFill>
              <a:srgbClr val="E7F1F4"/>
            </a:solidFill>
            <a:ln w="19050" cap="sq">
              <a:solidFill>
                <a:srgbClr val="0E7C86"/>
              </a:solidFill>
              <a:prstDash val="solid"/>
              <a:miter/>
            </a:ln>
          </p:spPr>
        </p:sp>
      </p:grpSp>
      <p:grpSp>
        <p:nvGrpSpPr>
          <p:cNvPr name="Group 46" id="46"/>
          <p:cNvGrpSpPr/>
          <p:nvPr/>
        </p:nvGrpSpPr>
        <p:grpSpPr>
          <a:xfrm rot="0">
            <a:off x="987552" y="5801868"/>
            <a:ext cx="548640" cy="850392"/>
            <a:chOff x="0" y="0"/>
            <a:chExt cx="731520" cy="1133856"/>
          </a:xfrm>
        </p:grpSpPr>
        <p:sp>
          <p:nvSpPr>
            <p:cNvPr name="Freeform 47" id="47"/>
            <p:cNvSpPr/>
            <p:nvPr/>
          </p:nvSpPr>
          <p:spPr>
            <a:xfrm flipH="false" flipV="false" rot="0">
              <a:off x="0" y="0"/>
              <a:ext cx="731520" cy="1133856"/>
            </a:xfrm>
            <a:custGeom>
              <a:avLst/>
              <a:gdLst/>
              <a:ahLst/>
              <a:cxnLst/>
              <a:rect r="r" b="b" t="t" l="l"/>
              <a:pathLst>
                <a:path h="1133856" w="731520">
                  <a:moveTo>
                    <a:pt x="0" y="0"/>
                  </a:moveTo>
                  <a:lnTo>
                    <a:pt x="731520" y="0"/>
                  </a:lnTo>
                  <a:lnTo>
                    <a:pt x="731520" y="1133856"/>
                  </a:lnTo>
                  <a:lnTo>
                    <a:pt x="0" y="1133856"/>
                  </a:lnTo>
                  <a:close/>
                </a:path>
              </a:pathLst>
            </a:custGeom>
            <a:solidFill>
              <a:srgbClr val="0E7C86"/>
            </a:solidFill>
          </p:spPr>
        </p:sp>
        <p:sp>
          <p:nvSpPr>
            <p:cNvPr name="TextBox 48" id="48"/>
            <p:cNvSpPr txBox="true"/>
            <p:nvPr/>
          </p:nvSpPr>
          <p:spPr>
            <a:xfrm>
              <a:off x="0" y="-47625"/>
              <a:ext cx="731520" cy="1181481"/>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5</a:t>
              </a:r>
            </a:p>
          </p:txBody>
        </p:sp>
      </p:grpSp>
      <p:grpSp>
        <p:nvGrpSpPr>
          <p:cNvPr name="Group 49" id="49"/>
          <p:cNvGrpSpPr/>
          <p:nvPr/>
        </p:nvGrpSpPr>
        <p:grpSpPr>
          <a:xfrm rot="0">
            <a:off x="1714500" y="5801868"/>
            <a:ext cx="6515100" cy="850392"/>
            <a:chOff x="0" y="0"/>
            <a:chExt cx="8686800" cy="1133856"/>
          </a:xfrm>
        </p:grpSpPr>
        <p:sp>
          <p:nvSpPr>
            <p:cNvPr name="Freeform 50" id="50"/>
            <p:cNvSpPr/>
            <p:nvPr/>
          </p:nvSpPr>
          <p:spPr>
            <a:xfrm flipH="false" flipV="false" rot="0">
              <a:off x="0" y="0"/>
              <a:ext cx="8686800" cy="1133856"/>
            </a:xfrm>
            <a:custGeom>
              <a:avLst/>
              <a:gdLst/>
              <a:ahLst/>
              <a:cxnLst/>
              <a:rect r="r" b="b" t="t" l="l"/>
              <a:pathLst>
                <a:path h="1133856" w="8686800">
                  <a:moveTo>
                    <a:pt x="0" y="0"/>
                  </a:moveTo>
                  <a:lnTo>
                    <a:pt x="8686800" y="0"/>
                  </a:lnTo>
                  <a:lnTo>
                    <a:pt x="8686800" y="1133856"/>
                  </a:lnTo>
                  <a:lnTo>
                    <a:pt x="0" y="1133856"/>
                  </a:lnTo>
                  <a:close/>
                </a:path>
              </a:pathLst>
            </a:custGeom>
            <a:blipFill>
              <a:blip r:embed="rId3">
                <a:alphaModFix amt="0"/>
              </a:blip>
              <a:stretch>
                <a:fillRect l="0" t="-99280" r="0" b="-99280"/>
              </a:stretch>
            </a:blipFill>
          </p:spPr>
        </p:sp>
        <p:sp>
          <p:nvSpPr>
            <p:cNvPr name="TextBox 51" id="51"/>
            <p:cNvSpPr txBox="true"/>
            <p:nvPr/>
          </p:nvSpPr>
          <p:spPr>
            <a:xfrm>
              <a:off x="0" y="-47625"/>
              <a:ext cx="8686800" cy="1181481"/>
            </a:xfrm>
            <a:prstGeom prst="rect">
              <a:avLst/>
            </a:prstGeom>
          </p:spPr>
          <p:txBody>
            <a:bodyPr anchor="ctr" rtlCol="false" tIns="0" lIns="0" bIns="0" rIns="0"/>
            <a:lstStyle/>
            <a:p>
              <a:pPr algn="l">
                <a:lnSpc>
                  <a:spcPts val="2340"/>
                </a:lnSpc>
              </a:pPr>
              <a:r>
                <a:rPr lang="en-US" sz="1950" b="true">
                  <a:solidFill>
                    <a:srgbClr val="1B2A4A"/>
                  </a:solidFill>
                  <a:latin typeface="Calibri (MS) Bold"/>
                  <a:ea typeface="Calibri (MS) Bold"/>
                  <a:cs typeface="Calibri (MS) Bold"/>
                  <a:sym typeface="Calibri (MS) Bold"/>
                </a:rPr>
                <a:t>Pengujian Otomatis 5x</a:t>
              </a:r>
            </a:p>
          </p:txBody>
        </p:sp>
      </p:grpSp>
      <p:sp>
        <p:nvSpPr>
          <p:cNvPr name="TextBox 52" id="52"/>
          <p:cNvSpPr txBox="true"/>
          <p:nvPr/>
        </p:nvSpPr>
        <p:spPr>
          <a:xfrm rot="0">
            <a:off x="4480560" y="6685788"/>
            <a:ext cx="228600" cy="51054"/>
          </a:xfrm>
          <a:prstGeom prst="rect">
            <a:avLst/>
          </a:prstGeom>
        </p:spPr>
        <p:txBody>
          <a:bodyPr anchor="t" rtlCol="false" tIns="0" lIns="0" bIns="0" rIns="0">
            <a:spAutoFit/>
          </a:bodyPr>
          <a:lstStyle/>
          <a:p>
            <a:pPr algn="ctr">
              <a:lnSpc>
                <a:spcPts val="1439"/>
              </a:lnSpc>
            </a:pPr>
            <a:r>
              <a:rPr lang="en-US" sz="1200">
                <a:solidFill>
                  <a:srgbClr val="0E7C86"/>
                </a:solidFill>
                <a:latin typeface="Arial"/>
                <a:ea typeface="Arial"/>
                <a:cs typeface="Arial"/>
                <a:sym typeface="Arial"/>
              </a:rPr>
              <a:t>▼</a:t>
            </a:r>
          </a:p>
        </p:txBody>
      </p:sp>
      <p:grpSp>
        <p:nvGrpSpPr>
          <p:cNvPr name="Group 53" id="53"/>
          <p:cNvGrpSpPr/>
          <p:nvPr/>
        </p:nvGrpSpPr>
        <p:grpSpPr>
          <a:xfrm rot="0">
            <a:off x="813435" y="6779895"/>
            <a:ext cx="7562850" cy="869442"/>
            <a:chOff x="0" y="0"/>
            <a:chExt cx="10083800" cy="1159256"/>
          </a:xfrm>
        </p:grpSpPr>
        <p:sp>
          <p:nvSpPr>
            <p:cNvPr name="Freeform 54" id="54"/>
            <p:cNvSpPr/>
            <p:nvPr/>
          </p:nvSpPr>
          <p:spPr>
            <a:xfrm flipH="false" flipV="false" rot="0">
              <a:off x="0" y="0"/>
              <a:ext cx="10083800" cy="1159256"/>
            </a:xfrm>
            <a:custGeom>
              <a:avLst/>
              <a:gdLst/>
              <a:ahLst/>
              <a:cxnLst/>
              <a:rect r="r" b="b" t="t" l="l"/>
              <a:pathLst>
                <a:path h="1159256" w="10083800">
                  <a:moveTo>
                    <a:pt x="0" y="112141"/>
                  </a:moveTo>
                  <a:cubicBezTo>
                    <a:pt x="0" y="50165"/>
                    <a:pt x="50165" y="0"/>
                    <a:pt x="112141" y="0"/>
                  </a:cubicBezTo>
                  <a:lnTo>
                    <a:pt x="9971659" y="0"/>
                  </a:lnTo>
                  <a:cubicBezTo>
                    <a:pt x="10033635" y="0"/>
                    <a:pt x="10083800" y="50165"/>
                    <a:pt x="10083800" y="112141"/>
                  </a:cubicBezTo>
                  <a:lnTo>
                    <a:pt x="10083800" y="1047115"/>
                  </a:lnTo>
                  <a:cubicBezTo>
                    <a:pt x="10083800" y="1109091"/>
                    <a:pt x="10033635" y="1159256"/>
                    <a:pt x="9971659" y="1159256"/>
                  </a:cubicBezTo>
                  <a:lnTo>
                    <a:pt x="112141" y="1159256"/>
                  </a:lnTo>
                  <a:cubicBezTo>
                    <a:pt x="50165" y="1159256"/>
                    <a:pt x="0" y="1109091"/>
                    <a:pt x="0" y="1047115"/>
                  </a:cubicBezTo>
                  <a:close/>
                </a:path>
              </a:pathLst>
            </a:custGeom>
            <a:solidFill>
              <a:srgbClr val="FFFFFF"/>
            </a:solidFill>
            <a:ln w="19050" cap="sq">
              <a:solidFill>
                <a:srgbClr val="0E7C86"/>
              </a:solidFill>
              <a:prstDash val="solid"/>
              <a:miter/>
            </a:ln>
          </p:spPr>
        </p:sp>
      </p:grpSp>
      <p:grpSp>
        <p:nvGrpSpPr>
          <p:cNvPr name="Group 55" id="55"/>
          <p:cNvGrpSpPr/>
          <p:nvPr/>
        </p:nvGrpSpPr>
        <p:grpSpPr>
          <a:xfrm rot="0">
            <a:off x="987552" y="6789420"/>
            <a:ext cx="548640" cy="850392"/>
            <a:chOff x="0" y="0"/>
            <a:chExt cx="731520" cy="1133856"/>
          </a:xfrm>
        </p:grpSpPr>
        <p:sp>
          <p:nvSpPr>
            <p:cNvPr name="Freeform 56" id="56"/>
            <p:cNvSpPr/>
            <p:nvPr/>
          </p:nvSpPr>
          <p:spPr>
            <a:xfrm flipH="false" flipV="false" rot="0">
              <a:off x="0" y="0"/>
              <a:ext cx="731520" cy="1133856"/>
            </a:xfrm>
            <a:custGeom>
              <a:avLst/>
              <a:gdLst/>
              <a:ahLst/>
              <a:cxnLst/>
              <a:rect r="r" b="b" t="t" l="l"/>
              <a:pathLst>
                <a:path h="1133856" w="731520">
                  <a:moveTo>
                    <a:pt x="0" y="0"/>
                  </a:moveTo>
                  <a:lnTo>
                    <a:pt x="731520" y="0"/>
                  </a:lnTo>
                  <a:lnTo>
                    <a:pt x="731520" y="1133856"/>
                  </a:lnTo>
                  <a:lnTo>
                    <a:pt x="0" y="1133856"/>
                  </a:lnTo>
                  <a:close/>
                </a:path>
              </a:pathLst>
            </a:custGeom>
            <a:solidFill>
              <a:srgbClr val="0E7C86"/>
            </a:solidFill>
          </p:spPr>
        </p:sp>
        <p:sp>
          <p:nvSpPr>
            <p:cNvPr name="TextBox 57" id="57"/>
            <p:cNvSpPr txBox="true"/>
            <p:nvPr/>
          </p:nvSpPr>
          <p:spPr>
            <a:xfrm>
              <a:off x="0" y="-47625"/>
              <a:ext cx="731520" cy="1181481"/>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6</a:t>
              </a:r>
            </a:p>
          </p:txBody>
        </p:sp>
      </p:grpSp>
      <p:grpSp>
        <p:nvGrpSpPr>
          <p:cNvPr name="Group 58" id="58"/>
          <p:cNvGrpSpPr/>
          <p:nvPr/>
        </p:nvGrpSpPr>
        <p:grpSpPr>
          <a:xfrm rot="0">
            <a:off x="1714500" y="6789420"/>
            <a:ext cx="6515100" cy="850392"/>
            <a:chOff x="0" y="0"/>
            <a:chExt cx="8686800" cy="1133856"/>
          </a:xfrm>
        </p:grpSpPr>
        <p:sp>
          <p:nvSpPr>
            <p:cNvPr name="Freeform 59" id="59"/>
            <p:cNvSpPr/>
            <p:nvPr/>
          </p:nvSpPr>
          <p:spPr>
            <a:xfrm flipH="false" flipV="false" rot="0">
              <a:off x="0" y="0"/>
              <a:ext cx="8686800" cy="1133856"/>
            </a:xfrm>
            <a:custGeom>
              <a:avLst/>
              <a:gdLst/>
              <a:ahLst/>
              <a:cxnLst/>
              <a:rect r="r" b="b" t="t" l="l"/>
              <a:pathLst>
                <a:path h="1133856" w="8686800">
                  <a:moveTo>
                    <a:pt x="0" y="0"/>
                  </a:moveTo>
                  <a:lnTo>
                    <a:pt x="8686800" y="0"/>
                  </a:lnTo>
                  <a:lnTo>
                    <a:pt x="8686800" y="1133856"/>
                  </a:lnTo>
                  <a:lnTo>
                    <a:pt x="0" y="1133856"/>
                  </a:lnTo>
                  <a:close/>
                </a:path>
              </a:pathLst>
            </a:custGeom>
            <a:blipFill>
              <a:blip r:embed="rId3">
                <a:alphaModFix amt="0"/>
              </a:blip>
              <a:stretch>
                <a:fillRect l="0" t="-99280" r="0" b="-99280"/>
              </a:stretch>
            </a:blipFill>
          </p:spPr>
        </p:sp>
        <p:sp>
          <p:nvSpPr>
            <p:cNvPr name="TextBox 60" id="60"/>
            <p:cNvSpPr txBox="true"/>
            <p:nvPr/>
          </p:nvSpPr>
          <p:spPr>
            <a:xfrm>
              <a:off x="0" y="-47625"/>
              <a:ext cx="8686800" cy="1181481"/>
            </a:xfrm>
            <a:prstGeom prst="rect">
              <a:avLst/>
            </a:prstGeom>
          </p:spPr>
          <p:txBody>
            <a:bodyPr anchor="ctr" rtlCol="false" tIns="0" lIns="0" bIns="0" rIns="0"/>
            <a:lstStyle/>
            <a:p>
              <a:pPr algn="l">
                <a:lnSpc>
                  <a:spcPts val="2340"/>
                </a:lnSpc>
              </a:pPr>
              <a:r>
                <a:rPr lang="en-US" sz="1950" b="true">
                  <a:solidFill>
                    <a:srgbClr val="1B2A4A"/>
                  </a:solidFill>
                  <a:latin typeface="Calibri (MS) Bold"/>
                  <a:ea typeface="Calibri (MS) Bold"/>
                  <a:cs typeface="Calibri (MS) Bold"/>
                  <a:sym typeface="Calibri (MS) Bold"/>
                </a:rPr>
                <a:t>Rata-rata &amp; Rekomendasi</a:t>
              </a:r>
            </a:p>
          </p:txBody>
        </p:sp>
      </p:grpSp>
      <p:sp>
        <p:nvSpPr>
          <p:cNvPr name="TextBox 61" id="61"/>
          <p:cNvSpPr txBox="true"/>
          <p:nvPr/>
        </p:nvSpPr>
        <p:spPr>
          <a:xfrm rot="0">
            <a:off x="4480560" y="7673340"/>
            <a:ext cx="228600" cy="51054"/>
          </a:xfrm>
          <a:prstGeom prst="rect">
            <a:avLst/>
          </a:prstGeom>
        </p:spPr>
        <p:txBody>
          <a:bodyPr anchor="t" rtlCol="false" tIns="0" lIns="0" bIns="0" rIns="0">
            <a:spAutoFit/>
          </a:bodyPr>
          <a:lstStyle/>
          <a:p>
            <a:pPr algn="ctr">
              <a:lnSpc>
                <a:spcPts val="1439"/>
              </a:lnSpc>
            </a:pPr>
            <a:r>
              <a:rPr lang="en-US" sz="1200">
                <a:solidFill>
                  <a:srgbClr val="0E7C86"/>
                </a:solidFill>
                <a:latin typeface="Arial"/>
                <a:ea typeface="Arial"/>
                <a:cs typeface="Arial"/>
                <a:sym typeface="Arial"/>
              </a:rPr>
              <a:t>▼</a:t>
            </a:r>
          </a:p>
        </p:txBody>
      </p:sp>
      <p:grpSp>
        <p:nvGrpSpPr>
          <p:cNvPr name="Group 62" id="62"/>
          <p:cNvGrpSpPr/>
          <p:nvPr/>
        </p:nvGrpSpPr>
        <p:grpSpPr>
          <a:xfrm rot="0">
            <a:off x="813435" y="7767447"/>
            <a:ext cx="7562850" cy="869442"/>
            <a:chOff x="0" y="0"/>
            <a:chExt cx="10083800" cy="1159256"/>
          </a:xfrm>
        </p:grpSpPr>
        <p:sp>
          <p:nvSpPr>
            <p:cNvPr name="Freeform 63" id="63"/>
            <p:cNvSpPr/>
            <p:nvPr/>
          </p:nvSpPr>
          <p:spPr>
            <a:xfrm flipH="false" flipV="false" rot="0">
              <a:off x="0" y="0"/>
              <a:ext cx="10083800" cy="1159256"/>
            </a:xfrm>
            <a:custGeom>
              <a:avLst/>
              <a:gdLst/>
              <a:ahLst/>
              <a:cxnLst/>
              <a:rect r="r" b="b" t="t" l="l"/>
              <a:pathLst>
                <a:path h="1159256" w="10083800">
                  <a:moveTo>
                    <a:pt x="0" y="112141"/>
                  </a:moveTo>
                  <a:cubicBezTo>
                    <a:pt x="0" y="50165"/>
                    <a:pt x="50165" y="0"/>
                    <a:pt x="112141" y="0"/>
                  </a:cubicBezTo>
                  <a:lnTo>
                    <a:pt x="9971659" y="0"/>
                  </a:lnTo>
                  <a:cubicBezTo>
                    <a:pt x="10033635" y="0"/>
                    <a:pt x="10083800" y="50165"/>
                    <a:pt x="10083800" y="112141"/>
                  </a:cubicBezTo>
                  <a:lnTo>
                    <a:pt x="10083800" y="1047115"/>
                  </a:lnTo>
                  <a:cubicBezTo>
                    <a:pt x="10083800" y="1109091"/>
                    <a:pt x="10033635" y="1159256"/>
                    <a:pt x="9971659" y="1159256"/>
                  </a:cubicBezTo>
                  <a:lnTo>
                    <a:pt x="112141" y="1159256"/>
                  </a:lnTo>
                  <a:cubicBezTo>
                    <a:pt x="50165" y="1159256"/>
                    <a:pt x="0" y="1109091"/>
                    <a:pt x="0" y="1047115"/>
                  </a:cubicBezTo>
                  <a:close/>
                </a:path>
              </a:pathLst>
            </a:custGeom>
            <a:solidFill>
              <a:srgbClr val="E7F1F4"/>
            </a:solidFill>
            <a:ln w="19050" cap="sq">
              <a:solidFill>
                <a:srgbClr val="0E7C86"/>
              </a:solidFill>
              <a:prstDash val="solid"/>
              <a:miter/>
            </a:ln>
          </p:spPr>
        </p:sp>
      </p:grpSp>
      <p:grpSp>
        <p:nvGrpSpPr>
          <p:cNvPr name="Group 64" id="64"/>
          <p:cNvGrpSpPr/>
          <p:nvPr/>
        </p:nvGrpSpPr>
        <p:grpSpPr>
          <a:xfrm rot="0">
            <a:off x="987552" y="7776972"/>
            <a:ext cx="548640" cy="850392"/>
            <a:chOff x="0" y="0"/>
            <a:chExt cx="731520" cy="1133856"/>
          </a:xfrm>
        </p:grpSpPr>
        <p:sp>
          <p:nvSpPr>
            <p:cNvPr name="Freeform 65" id="65"/>
            <p:cNvSpPr/>
            <p:nvPr/>
          </p:nvSpPr>
          <p:spPr>
            <a:xfrm flipH="false" flipV="false" rot="0">
              <a:off x="0" y="0"/>
              <a:ext cx="731520" cy="1133856"/>
            </a:xfrm>
            <a:custGeom>
              <a:avLst/>
              <a:gdLst/>
              <a:ahLst/>
              <a:cxnLst/>
              <a:rect r="r" b="b" t="t" l="l"/>
              <a:pathLst>
                <a:path h="1133856" w="731520">
                  <a:moveTo>
                    <a:pt x="0" y="0"/>
                  </a:moveTo>
                  <a:lnTo>
                    <a:pt x="731520" y="0"/>
                  </a:lnTo>
                  <a:lnTo>
                    <a:pt x="731520" y="1133856"/>
                  </a:lnTo>
                  <a:lnTo>
                    <a:pt x="0" y="1133856"/>
                  </a:lnTo>
                  <a:close/>
                </a:path>
              </a:pathLst>
            </a:custGeom>
            <a:solidFill>
              <a:srgbClr val="0E7C86"/>
            </a:solidFill>
          </p:spPr>
        </p:sp>
        <p:sp>
          <p:nvSpPr>
            <p:cNvPr name="TextBox 66" id="66"/>
            <p:cNvSpPr txBox="true"/>
            <p:nvPr/>
          </p:nvSpPr>
          <p:spPr>
            <a:xfrm>
              <a:off x="0" y="-47625"/>
              <a:ext cx="731520" cy="1181481"/>
            </a:xfrm>
            <a:prstGeom prst="rect">
              <a:avLst/>
            </a:prstGeom>
          </p:spPr>
          <p:txBody>
            <a:bodyPr anchor="ctr" rtlCol="false" tIns="50800" lIns="50800" bIns="50800" rIns="50800"/>
            <a:lstStyle/>
            <a:p>
              <a:pPr algn="ctr">
                <a:lnSpc>
                  <a:spcPts val="2520"/>
                </a:lnSpc>
              </a:pPr>
              <a:r>
                <a:rPr lang="en-US" sz="2100" b="true">
                  <a:solidFill>
                    <a:srgbClr val="FFFFFF"/>
                  </a:solidFill>
                  <a:latin typeface="Calibri (MS) Bold"/>
                  <a:ea typeface="Calibri (MS) Bold"/>
                  <a:cs typeface="Calibri (MS) Bold"/>
                  <a:sym typeface="Calibri (MS) Bold"/>
                </a:rPr>
                <a:t>7</a:t>
              </a:r>
            </a:p>
          </p:txBody>
        </p:sp>
      </p:grpSp>
      <p:grpSp>
        <p:nvGrpSpPr>
          <p:cNvPr name="Group 67" id="67"/>
          <p:cNvGrpSpPr/>
          <p:nvPr/>
        </p:nvGrpSpPr>
        <p:grpSpPr>
          <a:xfrm rot="0">
            <a:off x="1714500" y="7776972"/>
            <a:ext cx="6515100" cy="850392"/>
            <a:chOff x="0" y="0"/>
            <a:chExt cx="8686800" cy="1133856"/>
          </a:xfrm>
        </p:grpSpPr>
        <p:sp>
          <p:nvSpPr>
            <p:cNvPr name="Freeform 68" id="68"/>
            <p:cNvSpPr/>
            <p:nvPr/>
          </p:nvSpPr>
          <p:spPr>
            <a:xfrm flipH="false" flipV="false" rot="0">
              <a:off x="0" y="0"/>
              <a:ext cx="8686800" cy="1133856"/>
            </a:xfrm>
            <a:custGeom>
              <a:avLst/>
              <a:gdLst/>
              <a:ahLst/>
              <a:cxnLst/>
              <a:rect r="r" b="b" t="t" l="l"/>
              <a:pathLst>
                <a:path h="1133856" w="8686800">
                  <a:moveTo>
                    <a:pt x="0" y="0"/>
                  </a:moveTo>
                  <a:lnTo>
                    <a:pt x="8686800" y="0"/>
                  </a:lnTo>
                  <a:lnTo>
                    <a:pt x="8686800" y="1133856"/>
                  </a:lnTo>
                  <a:lnTo>
                    <a:pt x="0" y="1133856"/>
                  </a:lnTo>
                  <a:close/>
                </a:path>
              </a:pathLst>
            </a:custGeom>
            <a:blipFill>
              <a:blip r:embed="rId3">
                <a:alphaModFix amt="0"/>
              </a:blip>
              <a:stretch>
                <a:fillRect l="0" t="-99280" r="0" b="-99280"/>
              </a:stretch>
            </a:blipFill>
          </p:spPr>
        </p:sp>
        <p:sp>
          <p:nvSpPr>
            <p:cNvPr name="TextBox 69" id="69"/>
            <p:cNvSpPr txBox="true"/>
            <p:nvPr/>
          </p:nvSpPr>
          <p:spPr>
            <a:xfrm>
              <a:off x="0" y="-47625"/>
              <a:ext cx="8686800" cy="1181481"/>
            </a:xfrm>
            <a:prstGeom prst="rect">
              <a:avLst/>
            </a:prstGeom>
          </p:spPr>
          <p:txBody>
            <a:bodyPr anchor="ctr" rtlCol="false" tIns="0" lIns="0" bIns="0" rIns="0"/>
            <a:lstStyle/>
            <a:p>
              <a:pPr algn="l">
                <a:lnSpc>
                  <a:spcPts val="2340"/>
                </a:lnSpc>
              </a:pPr>
              <a:r>
                <a:rPr lang="en-US" sz="1950" b="true">
                  <a:solidFill>
                    <a:srgbClr val="1B2A4A"/>
                  </a:solidFill>
                  <a:latin typeface="Calibri (MS) Bold"/>
                  <a:ea typeface="Calibri (MS) Bold"/>
                  <a:cs typeface="Calibri (MS) Bold"/>
                  <a:sym typeface="Calibri (MS) Bold"/>
                </a:rPr>
                <a:t>Ekspor Hasil ke CSV</a:t>
              </a:r>
            </a:p>
          </p:txBody>
        </p:sp>
      </p:grpSp>
      <p:grpSp>
        <p:nvGrpSpPr>
          <p:cNvPr name="Group 70" id="70"/>
          <p:cNvGrpSpPr/>
          <p:nvPr/>
        </p:nvGrpSpPr>
        <p:grpSpPr>
          <a:xfrm rot="0">
            <a:off x="8908256" y="1844516"/>
            <a:ext cx="8586788" cy="7352347"/>
            <a:chOff x="0" y="0"/>
            <a:chExt cx="11449050" cy="9803130"/>
          </a:xfrm>
        </p:grpSpPr>
        <p:sp>
          <p:nvSpPr>
            <p:cNvPr name="Freeform 71" id="71"/>
            <p:cNvSpPr/>
            <p:nvPr/>
          </p:nvSpPr>
          <p:spPr>
            <a:xfrm flipH="false" flipV="false" rot="0">
              <a:off x="0" y="0"/>
              <a:ext cx="11449050" cy="9803130"/>
            </a:xfrm>
            <a:custGeom>
              <a:avLst/>
              <a:gdLst/>
              <a:ahLst/>
              <a:cxnLst/>
              <a:rect r="r" b="b" t="t" l="l"/>
              <a:pathLst>
                <a:path h="9803130" w="11449050">
                  <a:moveTo>
                    <a:pt x="0" y="146558"/>
                  </a:moveTo>
                  <a:cubicBezTo>
                    <a:pt x="0" y="65659"/>
                    <a:pt x="65659" y="0"/>
                    <a:pt x="146558" y="0"/>
                  </a:cubicBezTo>
                  <a:lnTo>
                    <a:pt x="11302492" y="0"/>
                  </a:lnTo>
                  <a:cubicBezTo>
                    <a:pt x="11383391" y="0"/>
                    <a:pt x="11449050" y="65659"/>
                    <a:pt x="11449050" y="146558"/>
                  </a:cubicBezTo>
                  <a:lnTo>
                    <a:pt x="11449050" y="9656572"/>
                  </a:lnTo>
                  <a:cubicBezTo>
                    <a:pt x="11449050" y="9737471"/>
                    <a:pt x="11383391" y="9803130"/>
                    <a:pt x="11302492" y="9803130"/>
                  </a:cubicBezTo>
                  <a:lnTo>
                    <a:pt x="146558" y="9803130"/>
                  </a:lnTo>
                  <a:cubicBezTo>
                    <a:pt x="65659" y="9803130"/>
                    <a:pt x="0" y="9737471"/>
                    <a:pt x="0" y="9656572"/>
                  </a:cubicBezTo>
                  <a:close/>
                </a:path>
              </a:pathLst>
            </a:custGeom>
            <a:solidFill>
              <a:srgbClr val="FFFFFF"/>
            </a:solidFill>
            <a:ln w="14288" cap="sq">
              <a:solidFill>
                <a:srgbClr val="D6E4E8"/>
              </a:solidFill>
              <a:prstDash val="solid"/>
              <a:miter/>
            </a:ln>
          </p:spPr>
        </p:sp>
      </p:grpSp>
      <p:grpSp>
        <p:nvGrpSpPr>
          <p:cNvPr name="Group 72" id="72"/>
          <p:cNvGrpSpPr/>
          <p:nvPr/>
        </p:nvGrpSpPr>
        <p:grpSpPr>
          <a:xfrm rot="0">
            <a:off x="9395460" y="2221992"/>
            <a:ext cx="685800" cy="685800"/>
            <a:chOff x="0" y="0"/>
            <a:chExt cx="914400" cy="914400"/>
          </a:xfrm>
        </p:grpSpPr>
        <p:sp>
          <p:nvSpPr>
            <p:cNvPr name="Freeform 73" id="73"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grpSp>
        <p:nvGrpSpPr>
          <p:cNvPr name="Group 74" id="74"/>
          <p:cNvGrpSpPr/>
          <p:nvPr/>
        </p:nvGrpSpPr>
        <p:grpSpPr>
          <a:xfrm rot="0">
            <a:off x="10287000" y="2263140"/>
            <a:ext cx="6995160" cy="617220"/>
            <a:chOff x="0" y="0"/>
            <a:chExt cx="9326880" cy="822960"/>
          </a:xfrm>
        </p:grpSpPr>
        <p:sp>
          <p:nvSpPr>
            <p:cNvPr name="Freeform 75" id="75"/>
            <p:cNvSpPr/>
            <p:nvPr/>
          </p:nvSpPr>
          <p:spPr>
            <a:xfrm flipH="false" flipV="false" rot="0">
              <a:off x="0" y="0"/>
              <a:ext cx="9326880" cy="822960"/>
            </a:xfrm>
            <a:custGeom>
              <a:avLst/>
              <a:gdLst/>
              <a:ahLst/>
              <a:cxnLst/>
              <a:rect r="r" b="b" t="t" l="l"/>
              <a:pathLst>
                <a:path h="822960" w="9326880">
                  <a:moveTo>
                    <a:pt x="0" y="0"/>
                  </a:moveTo>
                  <a:lnTo>
                    <a:pt x="9326880" y="0"/>
                  </a:lnTo>
                  <a:lnTo>
                    <a:pt x="9326880" y="822960"/>
                  </a:lnTo>
                  <a:lnTo>
                    <a:pt x="0" y="822960"/>
                  </a:lnTo>
                  <a:close/>
                </a:path>
              </a:pathLst>
            </a:custGeom>
            <a:blipFill>
              <a:blip r:embed="rId3">
                <a:alphaModFix amt="0"/>
              </a:blip>
              <a:stretch>
                <a:fillRect l="0" t="-170830" r="0" b="-170830"/>
              </a:stretch>
            </a:blipFill>
          </p:spPr>
        </p:sp>
        <p:sp>
          <p:nvSpPr>
            <p:cNvPr name="TextBox 76" id="76"/>
            <p:cNvSpPr txBox="true"/>
            <p:nvPr/>
          </p:nvSpPr>
          <p:spPr>
            <a:xfrm>
              <a:off x="0" y="-9525"/>
              <a:ext cx="9326880" cy="832485"/>
            </a:xfrm>
            <a:prstGeom prst="rect">
              <a:avLst/>
            </a:prstGeom>
          </p:spPr>
          <p:txBody>
            <a:bodyPr anchor="ctr" rtlCol="false" tIns="0" lIns="0" bIns="0" rIns="0"/>
            <a:lstStyle/>
            <a:p>
              <a:pPr algn="l">
                <a:lnSpc>
                  <a:spcPts val="3060"/>
                </a:lnSpc>
              </a:pPr>
              <a:r>
                <a:rPr lang="en-US" sz="2550" b="true">
                  <a:solidFill>
                    <a:srgbClr val="1B2A4A"/>
                  </a:solidFill>
                  <a:latin typeface="Cambria Bold"/>
                  <a:ea typeface="Cambria Bold"/>
                  <a:cs typeface="Cambria Bold"/>
                  <a:sym typeface="Cambria Bold"/>
                </a:rPr>
                <a:t>Struktur Modular Program</a:t>
              </a:r>
            </a:p>
          </p:txBody>
        </p:sp>
      </p:grpSp>
      <p:grpSp>
        <p:nvGrpSpPr>
          <p:cNvPr name="Group 77" id="77"/>
          <p:cNvGrpSpPr/>
          <p:nvPr/>
        </p:nvGrpSpPr>
        <p:grpSpPr>
          <a:xfrm rot="0">
            <a:off x="9395460" y="3223260"/>
            <a:ext cx="109728" cy="685800"/>
            <a:chOff x="0" y="0"/>
            <a:chExt cx="146304" cy="914400"/>
          </a:xfrm>
        </p:grpSpPr>
        <p:sp>
          <p:nvSpPr>
            <p:cNvPr name="Freeform 78" id="78"/>
            <p:cNvSpPr/>
            <p:nvPr/>
          </p:nvSpPr>
          <p:spPr>
            <a:xfrm flipH="false" flipV="false" rot="0">
              <a:off x="0" y="0"/>
              <a:ext cx="146304" cy="914400"/>
            </a:xfrm>
            <a:custGeom>
              <a:avLst/>
              <a:gdLst/>
              <a:ahLst/>
              <a:cxnLst/>
              <a:rect r="r" b="b" t="t" l="l"/>
              <a:pathLst>
                <a:path h="914400" w="146304">
                  <a:moveTo>
                    <a:pt x="0" y="0"/>
                  </a:moveTo>
                  <a:lnTo>
                    <a:pt x="146304" y="0"/>
                  </a:lnTo>
                  <a:lnTo>
                    <a:pt x="146304" y="914400"/>
                  </a:lnTo>
                  <a:lnTo>
                    <a:pt x="0" y="914400"/>
                  </a:lnTo>
                  <a:close/>
                </a:path>
              </a:pathLst>
            </a:custGeom>
            <a:solidFill>
              <a:srgbClr val="3FB6A8"/>
            </a:solidFill>
          </p:spPr>
        </p:sp>
      </p:grpSp>
      <p:sp>
        <p:nvSpPr>
          <p:cNvPr name="TextBox 79" id="79"/>
          <p:cNvSpPr txBox="true"/>
          <p:nvPr/>
        </p:nvSpPr>
        <p:spPr>
          <a:xfrm rot="0">
            <a:off x="9829800" y="3203448"/>
            <a:ext cx="7360920" cy="632460"/>
          </a:xfrm>
          <a:prstGeom prst="rect">
            <a:avLst/>
          </a:prstGeom>
        </p:spPr>
        <p:txBody>
          <a:bodyPr anchor="t" rtlCol="false" tIns="0" lIns="0" bIns="0" rIns="0">
            <a:spAutoFit/>
          </a:bodyPr>
          <a:lstStyle/>
          <a:p>
            <a:pPr algn="l">
              <a:lnSpc>
                <a:spcPts val="2430"/>
              </a:lnSpc>
            </a:pPr>
            <a:r>
              <a:rPr lang="en-US" sz="2025" b="true">
                <a:solidFill>
                  <a:srgbClr val="1B2A4A"/>
                </a:solidFill>
                <a:latin typeface="Calibri (MS) Bold"/>
                <a:ea typeface="Calibri (MS) Bold"/>
                <a:cs typeface="Calibri (MS) Bold"/>
                <a:sym typeface="Calibri (MS) Bold"/>
              </a:rPr>
              <a:t>models.py</a:t>
            </a:r>
          </a:p>
          <a:p>
            <a:pPr algn="l">
              <a:lnSpc>
                <a:spcPts val="2070"/>
              </a:lnSpc>
            </a:pPr>
            <a:r>
              <a:rPr lang="en-US" sz="1725">
                <a:solidFill>
                  <a:srgbClr val="44546A"/>
                </a:solidFill>
                <a:latin typeface="Calibri (MS)"/>
                <a:ea typeface="Calibri (MS)"/>
                <a:cs typeface="Calibri (MS)"/>
                <a:sym typeface="Calibri (MS)"/>
              </a:rPr>
              <a:t>Objek data (PermintaanLayanan)</a:t>
            </a:r>
          </a:p>
        </p:txBody>
      </p:sp>
      <p:grpSp>
        <p:nvGrpSpPr>
          <p:cNvPr name="Group 80" id="80"/>
          <p:cNvGrpSpPr/>
          <p:nvPr/>
        </p:nvGrpSpPr>
        <p:grpSpPr>
          <a:xfrm rot="0">
            <a:off x="9395460" y="3977640"/>
            <a:ext cx="109728" cy="685800"/>
            <a:chOff x="0" y="0"/>
            <a:chExt cx="146304" cy="914400"/>
          </a:xfrm>
        </p:grpSpPr>
        <p:sp>
          <p:nvSpPr>
            <p:cNvPr name="Freeform 81" id="81"/>
            <p:cNvSpPr/>
            <p:nvPr/>
          </p:nvSpPr>
          <p:spPr>
            <a:xfrm flipH="false" flipV="false" rot="0">
              <a:off x="0" y="0"/>
              <a:ext cx="146304" cy="914400"/>
            </a:xfrm>
            <a:custGeom>
              <a:avLst/>
              <a:gdLst/>
              <a:ahLst/>
              <a:cxnLst/>
              <a:rect r="r" b="b" t="t" l="l"/>
              <a:pathLst>
                <a:path h="914400" w="146304">
                  <a:moveTo>
                    <a:pt x="0" y="0"/>
                  </a:moveTo>
                  <a:lnTo>
                    <a:pt x="146304" y="0"/>
                  </a:lnTo>
                  <a:lnTo>
                    <a:pt x="146304" y="914400"/>
                  </a:lnTo>
                  <a:lnTo>
                    <a:pt x="0" y="914400"/>
                  </a:lnTo>
                  <a:close/>
                </a:path>
              </a:pathLst>
            </a:custGeom>
            <a:solidFill>
              <a:srgbClr val="3FB6A8"/>
            </a:solidFill>
          </p:spPr>
        </p:sp>
      </p:grpSp>
      <p:sp>
        <p:nvSpPr>
          <p:cNvPr name="TextBox 82" id="82"/>
          <p:cNvSpPr txBox="true"/>
          <p:nvPr/>
        </p:nvSpPr>
        <p:spPr>
          <a:xfrm rot="0">
            <a:off x="9829800" y="3957828"/>
            <a:ext cx="7360920" cy="632460"/>
          </a:xfrm>
          <a:prstGeom prst="rect">
            <a:avLst/>
          </a:prstGeom>
        </p:spPr>
        <p:txBody>
          <a:bodyPr anchor="t" rtlCol="false" tIns="0" lIns="0" bIns="0" rIns="0">
            <a:spAutoFit/>
          </a:bodyPr>
          <a:lstStyle/>
          <a:p>
            <a:pPr algn="l">
              <a:lnSpc>
                <a:spcPts val="2430"/>
              </a:lnSpc>
            </a:pPr>
            <a:r>
              <a:rPr lang="en-US" sz="2025" b="true">
                <a:solidFill>
                  <a:srgbClr val="1B2A4A"/>
                </a:solidFill>
                <a:latin typeface="Calibri (MS) Bold"/>
                <a:ea typeface="Calibri (MS) Bold"/>
                <a:cs typeface="Calibri (MS) Bold"/>
                <a:sym typeface="Calibri (MS) Bold"/>
              </a:rPr>
              <a:t>struktur_data.py</a:t>
            </a:r>
          </a:p>
          <a:p>
            <a:pPr algn="l">
              <a:lnSpc>
                <a:spcPts val="2070"/>
              </a:lnSpc>
            </a:pPr>
            <a:r>
              <a:rPr lang="en-US" sz="1725">
                <a:solidFill>
                  <a:srgbClr val="44546A"/>
                </a:solidFill>
                <a:latin typeface="Calibri (MS)"/>
                <a:ea typeface="Calibri (MS)"/>
                <a:cs typeface="Calibri (MS)"/>
                <a:sym typeface="Calibri (MS)"/>
              </a:rPr>
              <a:t>Queue (deque) &amp; Priority Queue (heap)</a:t>
            </a:r>
          </a:p>
        </p:txBody>
      </p:sp>
      <p:grpSp>
        <p:nvGrpSpPr>
          <p:cNvPr name="Group 83" id="83"/>
          <p:cNvGrpSpPr/>
          <p:nvPr/>
        </p:nvGrpSpPr>
        <p:grpSpPr>
          <a:xfrm rot="0">
            <a:off x="9395460" y="4732020"/>
            <a:ext cx="109728" cy="685800"/>
            <a:chOff x="0" y="0"/>
            <a:chExt cx="146304" cy="914400"/>
          </a:xfrm>
        </p:grpSpPr>
        <p:sp>
          <p:nvSpPr>
            <p:cNvPr name="Freeform 84" id="84"/>
            <p:cNvSpPr/>
            <p:nvPr/>
          </p:nvSpPr>
          <p:spPr>
            <a:xfrm flipH="false" flipV="false" rot="0">
              <a:off x="0" y="0"/>
              <a:ext cx="146304" cy="914400"/>
            </a:xfrm>
            <a:custGeom>
              <a:avLst/>
              <a:gdLst/>
              <a:ahLst/>
              <a:cxnLst/>
              <a:rect r="r" b="b" t="t" l="l"/>
              <a:pathLst>
                <a:path h="914400" w="146304">
                  <a:moveTo>
                    <a:pt x="0" y="0"/>
                  </a:moveTo>
                  <a:lnTo>
                    <a:pt x="146304" y="0"/>
                  </a:lnTo>
                  <a:lnTo>
                    <a:pt x="146304" y="914400"/>
                  </a:lnTo>
                  <a:lnTo>
                    <a:pt x="0" y="914400"/>
                  </a:lnTo>
                  <a:close/>
                </a:path>
              </a:pathLst>
            </a:custGeom>
            <a:solidFill>
              <a:srgbClr val="3FB6A8"/>
            </a:solidFill>
          </p:spPr>
        </p:sp>
      </p:grpSp>
      <p:sp>
        <p:nvSpPr>
          <p:cNvPr name="TextBox 85" id="85"/>
          <p:cNvSpPr txBox="true"/>
          <p:nvPr/>
        </p:nvSpPr>
        <p:spPr>
          <a:xfrm rot="0">
            <a:off x="9829800" y="4712208"/>
            <a:ext cx="7360920" cy="632460"/>
          </a:xfrm>
          <a:prstGeom prst="rect">
            <a:avLst/>
          </a:prstGeom>
        </p:spPr>
        <p:txBody>
          <a:bodyPr anchor="t" rtlCol="false" tIns="0" lIns="0" bIns="0" rIns="0">
            <a:spAutoFit/>
          </a:bodyPr>
          <a:lstStyle/>
          <a:p>
            <a:pPr algn="l">
              <a:lnSpc>
                <a:spcPts val="2430"/>
              </a:lnSpc>
            </a:pPr>
            <a:r>
              <a:rPr lang="en-US" sz="2025" b="true">
                <a:solidFill>
                  <a:srgbClr val="1B2A4A"/>
                </a:solidFill>
                <a:latin typeface="Calibri (MS) Bold"/>
                <a:ea typeface="Calibri (MS) Bold"/>
                <a:cs typeface="Calibri (MS) Bold"/>
                <a:sym typeface="Calibri (MS) Bold"/>
              </a:rPr>
              <a:t>algoritma.py</a:t>
            </a:r>
          </a:p>
          <a:p>
            <a:pPr algn="l">
              <a:lnSpc>
                <a:spcPts val="2070"/>
              </a:lnSpc>
            </a:pPr>
            <a:r>
              <a:rPr lang="en-US" sz="1725">
                <a:solidFill>
                  <a:srgbClr val="44546A"/>
                </a:solidFill>
                <a:latin typeface="Calibri (MS)"/>
                <a:ea typeface="Calibri (MS)"/>
                <a:cs typeface="Calibri (MS)"/>
                <a:sym typeface="Calibri (MS)"/>
              </a:rPr>
              <a:t>Implementasi FCFS &amp; Priority Scheduling</a:t>
            </a:r>
          </a:p>
        </p:txBody>
      </p:sp>
      <p:grpSp>
        <p:nvGrpSpPr>
          <p:cNvPr name="Group 86" id="86"/>
          <p:cNvGrpSpPr/>
          <p:nvPr/>
        </p:nvGrpSpPr>
        <p:grpSpPr>
          <a:xfrm rot="0">
            <a:off x="9395460" y="5486400"/>
            <a:ext cx="109728" cy="685800"/>
            <a:chOff x="0" y="0"/>
            <a:chExt cx="146304" cy="914400"/>
          </a:xfrm>
        </p:grpSpPr>
        <p:sp>
          <p:nvSpPr>
            <p:cNvPr name="Freeform 87" id="87"/>
            <p:cNvSpPr/>
            <p:nvPr/>
          </p:nvSpPr>
          <p:spPr>
            <a:xfrm flipH="false" flipV="false" rot="0">
              <a:off x="0" y="0"/>
              <a:ext cx="146304" cy="914400"/>
            </a:xfrm>
            <a:custGeom>
              <a:avLst/>
              <a:gdLst/>
              <a:ahLst/>
              <a:cxnLst/>
              <a:rect r="r" b="b" t="t" l="l"/>
              <a:pathLst>
                <a:path h="914400" w="146304">
                  <a:moveTo>
                    <a:pt x="0" y="0"/>
                  </a:moveTo>
                  <a:lnTo>
                    <a:pt x="146304" y="0"/>
                  </a:lnTo>
                  <a:lnTo>
                    <a:pt x="146304" y="914400"/>
                  </a:lnTo>
                  <a:lnTo>
                    <a:pt x="0" y="914400"/>
                  </a:lnTo>
                  <a:close/>
                </a:path>
              </a:pathLst>
            </a:custGeom>
            <a:solidFill>
              <a:srgbClr val="3FB6A8"/>
            </a:solidFill>
          </p:spPr>
        </p:sp>
      </p:grpSp>
      <p:sp>
        <p:nvSpPr>
          <p:cNvPr name="TextBox 88" id="88"/>
          <p:cNvSpPr txBox="true"/>
          <p:nvPr/>
        </p:nvSpPr>
        <p:spPr>
          <a:xfrm rot="0">
            <a:off x="9829800" y="5466588"/>
            <a:ext cx="7360920" cy="632460"/>
          </a:xfrm>
          <a:prstGeom prst="rect">
            <a:avLst/>
          </a:prstGeom>
        </p:spPr>
        <p:txBody>
          <a:bodyPr anchor="t" rtlCol="false" tIns="0" lIns="0" bIns="0" rIns="0">
            <a:spAutoFit/>
          </a:bodyPr>
          <a:lstStyle/>
          <a:p>
            <a:pPr algn="l">
              <a:lnSpc>
                <a:spcPts val="2430"/>
              </a:lnSpc>
            </a:pPr>
            <a:r>
              <a:rPr lang="en-US" sz="2025" b="true">
                <a:solidFill>
                  <a:srgbClr val="1B2A4A"/>
                </a:solidFill>
                <a:latin typeface="Calibri (MS) Bold"/>
                <a:ea typeface="Calibri (MS) Bold"/>
                <a:cs typeface="Calibri (MS) Bold"/>
                <a:sym typeface="Calibri (MS) Bold"/>
              </a:rPr>
              <a:t>dataset_io.py</a:t>
            </a:r>
          </a:p>
          <a:p>
            <a:pPr algn="l">
              <a:lnSpc>
                <a:spcPts val="2070"/>
              </a:lnSpc>
            </a:pPr>
            <a:r>
              <a:rPr lang="en-US" sz="1725">
                <a:solidFill>
                  <a:srgbClr val="44546A"/>
                </a:solidFill>
                <a:latin typeface="Calibri (MS)"/>
                <a:ea typeface="Calibri (MS)"/>
                <a:cs typeface="Calibri (MS)"/>
                <a:sym typeface="Calibri (MS)"/>
              </a:rPr>
              <a:t>Pemuatan &amp; validasi dataset CSV</a:t>
            </a:r>
          </a:p>
        </p:txBody>
      </p:sp>
      <p:grpSp>
        <p:nvGrpSpPr>
          <p:cNvPr name="Group 89" id="89"/>
          <p:cNvGrpSpPr/>
          <p:nvPr/>
        </p:nvGrpSpPr>
        <p:grpSpPr>
          <a:xfrm rot="0">
            <a:off x="9395460" y="6240780"/>
            <a:ext cx="109728" cy="685800"/>
            <a:chOff x="0" y="0"/>
            <a:chExt cx="146304" cy="914400"/>
          </a:xfrm>
        </p:grpSpPr>
        <p:sp>
          <p:nvSpPr>
            <p:cNvPr name="Freeform 90" id="90"/>
            <p:cNvSpPr/>
            <p:nvPr/>
          </p:nvSpPr>
          <p:spPr>
            <a:xfrm flipH="false" flipV="false" rot="0">
              <a:off x="0" y="0"/>
              <a:ext cx="146304" cy="914400"/>
            </a:xfrm>
            <a:custGeom>
              <a:avLst/>
              <a:gdLst/>
              <a:ahLst/>
              <a:cxnLst/>
              <a:rect r="r" b="b" t="t" l="l"/>
              <a:pathLst>
                <a:path h="914400" w="146304">
                  <a:moveTo>
                    <a:pt x="0" y="0"/>
                  </a:moveTo>
                  <a:lnTo>
                    <a:pt x="146304" y="0"/>
                  </a:lnTo>
                  <a:lnTo>
                    <a:pt x="146304" y="914400"/>
                  </a:lnTo>
                  <a:lnTo>
                    <a:pt x="0" y="914400"/>
                  </a:lnTo>
                  <a:close/>
                </a:path>
              </a:pathLst>
            </a:custGeom>
            <a:solidFill>
              <a:srgbClr val="3FB6A8"/>
            </a:solidFill>
          </p:spPr>
        </p:sp>
      </p:grpSp>
      <p:sp>
        <p:nvSpPr>
          <p:cNvPr name="TextBox 91" id="91"/>
          <p:cNvSpPr txBox="true"/>
          <p:nvPr/>
        </p:nvSpPr>
        <p:spPr>
          <a:xfrm rot="0">
            <a:off x="9829800" y="6220968"/>
            <a:ext cx="7360920" cy="632460"/>
          </a:xfrm>
          <a:prstGeom prst="rect">
            <a:avLst/>
          </a:prstGeom>
        </p:spPr>
        <p:txBody>
          <a:bodyPr anchor="t" rtlCol="false" tIns="0" lIns="0" bIns="0" rIns="0">
            <a:spAutoFit/>
          </a:bodyPr>
          <a:lstStyle/>
          <a:p>
            <a:pPr algn="l">
              <a:lnSpc>
                <a:spcPts val="2430"/>
              </a:lnSpc>
            </a:pPr>
            <a:r>
              <a:rPr lang="en-US" sz="2025" b="true">
                <a:solidFill>
                  <a:srgbClr val="1B2A4A"/>
                </a:solidFill>
                <a:latin typeface="Calibri (MS) Bold"/>
                <a:ea typeface="Calibri (MS) Bold"/>
                <a:cs typeface="Calibri (MS) Bold"/>
                <a:sym typeface="Calibri (MS) Bold"/>
              </a:rPr>
              <a:t>pengujian.py</a:t>
            </a:r>
          </a:p>
          <a:p>
            <a:pPr algn="l">
              <a:lnSpc>
                <a:spcPts val="2070"/>
              </a:lnSpc>
            </a:pPr>
            <a:r>
              <a:rPr lang="en-US" sz="1725">
                <a:solidFill>
                  <a:srgbClr val="44546A"/>
                </a:solidFill>
                <a:latin typeface="Calibri (MS)"/>
                <a:ea typeface="Calibri (MS)"/>
                <a:cs typeface="Calibri (MS)"/>
                <a:sym typeface="Calibri (MS)"/>
              </a:rPr>
              <a:t>Pengujian otomatis, rata-rata, ekspor CSV</a:t>
            </a:r>
          </a:p>
        </p:txBody>
      </p:sp>
      <p:grpSp>
        <p:nvGrpSpPr>
          <p:cNvPr name="Group 92" id="92"/>
          <p:cNvGrpSpPr/>
          <p:nvPr/>
        </p:nvGrpSpPr>
        <p:grpSpPr>
          <a:xfrm rot="0">
            <a:off x="9395460" y="6995160"/>
            <a:ext cx="109728" cy="685800"/>
            <a:chOff x="0" y="0"/>
            <a:chExt cx="146304" cy="914400"/>
          </a:xfrm>
        </p:grpSpPr>
        <p:sp>
          <p:nvSpPr>
            <p:cNvPr name="Freeform 93" id="93"/>
            <p:cNvSpPr/>
            <p:nvPr/>
          </p:nvSpPr>
          <p:spPr>
            <a:xfrm flipH="false" flipV="false" rot="0">
              <a:off x="0" y="0"/>
              <a:ext cx="146304" cy="914400"/>
            </a:xfrm>
            <a:custGeom>
              <a:avLst/>
              <a:gdLst/>
              <a:ahLst/>
              <a:cxnLst/>
              <a:rect r="r" b="b" t="t" l="l"/>
              <a:pathLst>
                <a:path h="914400" w="146304">
                  <a:moveTo>
                    <a:pt x="0" y="0"/>
                  </a:moveTo>
                  <a:lnTo>
                    <a:pt x="146304" y="0"/>
                  </a:lnTo>
                  <a:lnTo>
                    <a:pt x="146304" y="914400"/>
                  </a:lnTo>
                  <a:lnTo>
                    <a:pt x="0" y="914400"/>
                  </a:lnTo>
                  <a:close/>
                </a:path>
              </a:pathLst>
            </a:custGeom>
            <a:solidFill>
              <a:srgbClr val="3FB6A8"/>
            </a:solidFill>
          </p:spPr>
        </p:sp>
      </p:grpSp>
      <p:sp>
        <p:nvSpPr>
          <p:cNvPr name="TextBox 94" id="94"/>
          <p:cNvSpPr txBox="true"/>
          <p:nvPr/>
        </p:nvSpPr>
        <p:spPr>
          <a:xfrm rot="0">
            <a:off x="9829800" y="6975348"/>
            <a:ext cx="7360920" cy="632460"/>
          </a:xfrm>
          <a:prstGeom prst="rect">
            <a:avLst/>
          </a:prstGeom>
        </p:spPr>
        <p:txBody>
          <a:bodyPr anchor="t" rtlCol="false" tIns="0" lIns="0" bIns="0" rIns="0">
            <a:spAutoFit/>
          </a:bodyPr>
          <a:lstStyle/>
          <a:p>
            <a:pPr algn="l">
              <a:lnSpc>
                <a:spcPts val="2430"/>
              </a:lnSpc>
            </a:pPr>
            <a:r>
              <a:rPr lang="en-US" sz="2025" b="true">
                <a:solidFill>
                  <a:srgbClr val="1B2A4A"/>
                </a:solidFill>
                <a:latin typeface="Calibri (MS) Bold"/>
                <a:ea typeface="Calibri (MS) Bold"/>
                <a:cs typeface="Calibri (MS) Bold"/>
                <a:sym typeface="Calibri (MS) Bold"/>
              </a:rPr>
              <a:t>main.py</a:t>
            </a:r>
          </a:p>
          <a:p>
            <a:pPr algn="l">
              <a:lnSpc>
                <a:spcPts val="2070"/>
              </a:lnSpc>
            </a:pPr>
            <a:r>
              <a:rPr lang="en-US" sz="1725">
                <a:solidFill>
                  <a:srgbClr val="44546A"/>
                </a:solidFill>
                <a:latin typeface="Calibri (MS)"/>
                <a:ea typeface="Calibri (MS)"/>
                <a:cs typeface="Calibri (MS)"/>
                <a:sym typeface="Calibri (MS)"/>
              </a:rPr>
              <a:t>Menu utama &amp; kendali program (CLI)</a:t>
            </a:r>
          </a:p>
        </p:txBody>
      </p:sp>
    </p:spTree>
  </p:cSld>
  <p:clrMapOvr>
    <a:masterClrMapping/>
  </p:clrMapOvr>
  <p:transition spd="fast">
    <p:wipe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43891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0E7C86"/>
                  </a:solidFill>
                  <a:latin typeface="Calibri (MS) Bold"/>
                  <a:ea typeface="Calibri (MS) Bold"/>
                  <a:cs typeface="Calibri (MS) Bold"/>
                  <a:sym typeface="Calibri (MS) Bold"/>
                </a:rPr>
                <a:t>KOMPLEKSITAS TEORITIS</a:t>
              </a:r>
            </a:p>
          </p:txBody>
        </p:sp>
      </p:grpSp>
      <p:grpSp>
        <p:nvGrpSpPr>
          <p:cNvPr name="Group 5" id="5"/>
          <p:cNvGrpSpPr/>
          <p:nvPr/>
        </p:nvGrpSpPr>
        <p:grpSpPr>
          <a:xfrm rot="0">
            <a:off x="822960" y="850392"/>
            <a:ext cx="16596360" cy="960120"/>
            <a:chOff x="0" y="0"/>
            <a:chExt cx="22128480" cy="1280160"/>
          </a:xfrm>
        </p:grpSpPr>
        <p:sp>
          <p:nvSpPr>
            <p:cNvPr name="Freeform 6" id="6"/>
            <p:cNvSpPr/>
            <p:nvPr/>
          </p:nvSpPr>
          <p:spPr>
            <a:xfrm flipH="false" flipV="false" rot="0">
              <a:off x="0" y="0"/>
              <a:ext cx="22128480" cy="1280160"/>
            </a:xfrm>
            <a:custGeom>
              <a:avLst/>
              <a:gdLst/>
              <a:ahLst/>
              <a:cxnLst/>
              <a:rect r="r" b="b" t="t" l="l"/>
              <a:pathLst>
                <a:path h="1280160" w="22128480">
                  <a:moveTo>
                    <a:pt x="0" y="0"/>
                  </a:moveTo>
                  <a:lnTo>
                    <a:pt x="22128480" y="0"/>
                  </a:lnTo>
                  <a:lnTo>
                    <a:pt x="22128480" y="1280160"/>
                  </a:lnTo>
                  <a:lnTo>
                    <a:pt x="0" y="1280160"/>
                  </a:lnTo>
                  <a:close/>
                </a:path>
              </a:pathLst>
            </a:custGeom>
            <a:blipFill>
              <a:blip r:embed="rId3">
                <a:alphaModFix amt="0"/>
              </a:blip>
              <a:stretch>
                <a:fillRect l="0" t="-286812" r="0" b="-286812"/>
              </a:stretch>
            </a:blipFill>
          </p:spPr>
        </p:sp>
        <p:sp>
          <p:nvSpPr>
            <p:cNvPr name="TextBox 7" id="7"/>
            <p:cNvSpPr txBox="true"/>
            <p:nvPr/>
          </p:nvSpPr>
          <p:spPr>
            <a:xfrm>
              <a:off x="0" y="-19050"/>
              <a:ext cx="22128480" cy="1299210"/>
            </a:xfrm>
            <a:prstGeom prst="rect">
              <a:avLst/>
            </a:prstGeom>
          </p:spPr>
          <p:txBody>
            <a:bodyPr anchor="ctr" rtlCol="false" tIns="0" lIns="0" bIns="0" rIns="0"/>
            <a:lstStyle/>
            <a:p>
              <a:pPr algn="l">
                <a:lnSpc>
                  <a:spcPts val="5400"/>
                </a:lnSpc>
              </a:pPr>
              <a:r>
                <a:rPr lang="en-US" sz="4500" b="true">
                  <a:solidFill>
                    <a:srgbClr val="1B2A4A"/>
                  </a:solidFill>
                  <a:latin typeface="Cambria Bold"/>
                  <a:ea typeface="Cambria Bold"/>
                  <a:cs typeface="Cambria Bold"/>
                  <a:sym typeface="Cambria Bold"/>
                </a:rPr>
                <a:t>Analisis Big-O</a:t>
              </a:r>
            </a:p>
          </p:txBody>
        </p:sp>
      </p:grpSp>
      <p:graphicFrame>
        <p:nvGraphicFramePr>
          <p:cNvPr name="Table 8" id="8"/>
          <p:cNvGraphicFramePr>
            <a:graphicFrameLocks noGrp="true"/>
          </p:cNvGraphicFramePr>
          <p:nvPr/>
        </p:nvGraphicFramePr>
        <p:xfrm>
          <a:off x="822960" y="1920240"/>
          <a:ext cx="16592550" cy="3619500"/>
        </p:xfrm>
        <a:graphic>
          <a:graphicData uri="http://schemas.openxmlformats.org/drawingml/2006/table">
            <a:tbl>
              <a:tblPr/>
              <a:tblGrid>
                <a:gridCol w="4940691"/>
                <a:gridCol w="5825930"/>
                <a:gridCol w="5825930"/>
              </a:tblGrid>
              <a:tr h="723900">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Aspek</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1B2A4A"/>
                    </a:solidFill>
                  </a:tcPr>
                </a:tc>
                <a:tc>
                  <a:txBody>
                    <a:bodyPr anchor="t" rtlCol="false"/>
                    <a:lstStyle/>
                    <a:p>
                      <a:pPr algn="ctr">
                        <a:lnSpc>
                          <a:spcPts val="2520"/>
                        </a:lnSpc>
                        <a:defRPr/>
                      </a:pPr>
                      <a:r>
                        <a:rPr lang="en-US" sz="2100" b="true">
                          <a:solidFill>
                            <a:srgbClr val="FFFFFF"/>
                          </a:solidFill>
                          <a:latin typeface="Calibri (MS) Bold"/>
                          <a:ea typeface="Calibri (MS) Bold"/>
                          <a:cs typeface="Calibri (MS) Bold"/>
                          <a:sym typeface="Calibri (MS) Bold"/>
                        </a:rPr>
                        <a:t>FCFS</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1B2A4A"/>
                    </a:solidFill>
                  </a:tcPr>
                </a:tc>
                <a:tc>
                  <a:txBody>
                    <a:bodyPr anchor="t" rtlCol="false"/>
                    <a:lstStyle/>
                    <a:p>
                      <a:pPr algn="ctr">
                        <a:lnSpc>
                          <a:spcPts val="2520"/>
                        </a:lnSpc>
                        <a:defRPr/>
                      </a:pPr>
                      <a:r>
                        <a:rPr lang="en-US" sz="2100" b="true">
                          <a:solidFill>
                            <a:srgbClr val="FFFFFF"/>
                          </a:solidFill>
                          <a:latin typeface="Calibri (MS) Bold"/>
                          <a:ea typeface="Calibri (MS) Bold"/>
                          <a:cs typeface="Calibri (MS) Bold"/>
                          <a:sym typeface="Calibri (MS) Bold"/>
                        </a:rPr>
                        <a:t>Priority Scheduling</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1B2A4A"/>
                    </a:solidFill>
                  </a:tcPr>
                </a:tc>
              </a:tr>
              <a:tr h="723900">
                <a:tc>
                  <a:txBody>
                    <a:bodyPr anchor="t" rtlCol="false"/>
                    <a:lstStyle/>
                    <a:p>
                      <a:pPr algn="l">
                        <a:lnSpc>
                          <a:spcPts val="2340"/>
                        </a:lnSpc>
                        <a:defRPr/>
                      </a:pPr>
                      <a:r>
                        <a:rPr lang="en-US" sz="1950">
                          <a:solidFill>
                            <a:srgbClr val="44546A"/>
                          </a:solidFill>
                          <a:latin typeface="Calibri (MS)"/>
                          <a:ea typeface="Calibri (MS)"/>
                          <a:cs typeface="Calibri (MS)"/>
                          <a:sym typeface="Calibri (MS)"/>
                        </a:rPr>
                        <a:t>Struktur Data</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E7F1F4"/>
                    </a:solidFill>
                  </a:tcPr>
                </a:tc>
                <a:tc>
                  <a:txBody>
                    <a:bodyPr anchor="t" rtlCol="false"/>
                    <a:lstStyle/>
                    <a:p>
                      <a:pPr algn="ctr">
                        <a:lnSpc>
                          <a:spcPts val="2340"/>
                        </a:lnSpc>
                        <a:defRPr/>
                      </a:pPr>
                      <a:r>
                        <a:rPr lang="en-US" sz="1950">
                          <a:solidFill>
                            <a:srgbClr val="44546A"/>
                          </a:solidFill>
                          <a:latin typeface="Calibri (MS)"/>
                          <a:ea typeface="Calibri (MS)"/>
                          <a:cs typeface="Calibri (MS)"/>
                          <a:sym typeface="Calibri (MS)"/>
                        </a:rPr>
                        <a:t>Queue (deque)</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E7F1F4"/>
                    </a:solidFill>
                  </a:tcPr>
                </a:tc>
                <a:tc>
                  <a:txBody>
                    <a:bodyPr anchor="t" rtlCol="false"/>
                    <a:lstStyle/>
                    <a:p>
                      <a:pPr algn="ctr">
                        <a:lnSpc>
                          <a:spcPts val="2340"/>
                        </a:lnSpc>
                        <a:defRPr/>
                      </a:pPr>
                      <a:r>
                        <a:rPr lang="en-US" sz="1950">
                          <a:solidFill>
                            <a:srgbClr val="44546A"/>
                          </a:solidFill>
                          <a:latin typeface="Calibri (MS)"/>
                          <a:ea typeface="Calibri (MS)"/>
                          <a:cs typeface="Calibri (MS)"/>
                          <a:sym typeface="Calibri (MS)"/>
                        </a:rPr>
                        <a:t>Priority Queue (binary min-heap)</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E7F1F4"/>
                    </a:solidFill>
                  </a:tcPr>
                </a:tc>
              </a:tr>
              <a:tr h="723900">
                <a:tc>
                  <a:txBody>
                    <a:bodyPr anchor="t" rtlCol="false"/>
                    <a:lstStyle/>
                    <a:p>
                      <a:pPr algn="l">
                        <a:lnSpc>
                          <a:spcPts val="2340"/>
                        </a:lnSpc>
                        <a:defRPr/>
                      </a:pPr>
                      <a:r>
                        <a:rPr lang="en-US" sz="1950">
                          <a:solidFill>
                            <a:srgbClr val="44546A"/>
                          </a:solidFill>
                          <a:latin typeface="Calibri (MS)"/>
                          <a:ea typeface="Calibri (MS)"/>
                          <a:cs typeface="Calibri (MS)"/>
                          <a:sym typeface="Calibri (MS)"/>
                        </a:rPr>
                        <a:t>Proses Utama</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44546A"/>
                          </a:solidFill>
                          <a:latin typeface="Calibri (MS)"/>
                          <a:ea typeface="Calibri (MS)"/>
                          <a:cs typeface="Calibri (MS)"/>
                          <a:sym typeface="Calibri (MS)"/>
                        </a:rPr>
                        <a:t>Sort awal + Queue O(1)</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44546A"/>
                          </a:solidFill>
                          <a:latin typeface="Calibri (MS)"/>
                          <a:ea typeface="Calibri (MS)"/>
                          <a:cs typeface="Calibri (MS)"/>
                          <a:sym typeface="Calibri (MS)"/>
                        </a:rPr>
                        <a:t>Insert + Extract-min</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r>
              <a:tr h="723900">
                <a:tc>
                  <a:txBody>
                    <a:bodyPr anchor="t" rtlCol="false"/>
                    <a:lstStyle/>
                    <a:p>
                      <a:pPr algn="l">
                        <a:lnSpc>
                          <a:spcPts val="2340"/>
                        </a:lnSpc>
                        <a:defRPr/>
                      </a:pPr>
                      <a:r>
                        <a:rPr lang="en-US" sz="1950" b="true">
                          <a:solidFill>
                            <a:srgbClr val="44546A"/>
                          </a:solidFill>
                          <a:latin typeface="Calibri (MS) Bold"/>
                          <a:ea typeface="Calibri (MS) Bold"/>
                          <a:cs typeface="Calibri (MS) Bold"/>
                          <a:sym typeface="Calibri (MS) Bold"/>
                        </a:rPr>
                        <a:t>Kompleksitas Waktu</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E7F1F4"/>
                    </a:solidFill>
                  </a:tcPr>
                </a:tc>
                <a:tc>
                  <a:txBody>
                    <a:bodyPr anchor="t" rtlCol="false"/>
                    <a:lstStyle/>
                    <a:p>
                      <a:pPr algn="ctr">
                        <a:lnSpc>
                          <a:spcPts val="2520"/>
                        </a:lnSpc>
                        <a:defRPr/>
                      </a:pPr>
                      <a:r>
                        <a:rPr lang="en-US" sz="2100" b="true">
                          <a:solidFill>
                            <a:srgbClr val="0E7C86"/>
                          </a:solidFill>
                          <a:latin typeface="Calibri (MS) Bold"/>
                          <a:ea typeface="Calibri (MS) Bold"/>
                          <a:cs typeface="Calibri (MS) Bold"/>
                          <a:sym typeface="Calibri (MS) Bold"/>
                        </a:rPr>
                        <a:t>O(n log n)</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E7F1F4"/>
                    </a:solidFill>
                  </a:tcPr>
                </a:tc>
                <a:tc>
                  <a:txBody>
                    <a:bodyPr anchor="t" rtlCol="false"/>
                    <a:lstStyle/>
                    <a:p>
                      <a:pPr algn="ctr">
                        <a:lnSpc>
                          <a:spcPts val="2520"/>
                        </a:lnSpc>
                        <a:defRPr/>
                      </a:pPr>
                      <a:r>
                        <a:rPr lang="en-US" sz="2100" b="true">
                          <a:solidFill>
                            <a:srgbClr val="0E7C86"/>
                          </a:solidFill>
                          <a:latin typeface="Calibri (MS) Bold"/>
                          <a:ea typeface="Calibri (MS) Bold"/>
                          <a:cs typeface="Calibri (MS) Bold"/>
                          <a:sym typeface="Calibri (MS) Bold"/>
                        </a:rPr>
                        <a:t>O(n log n)</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E7F1F4"/>
                    </a:solidFill>
                  </a:tcPr>
                </a:tc>
              </a:tr>
              <a:tr h="723900">
                <a:tc>
                  <a:txBody>
                    <a:bodyPr anchor="t" rtlCol="false"/>
                    <a:lstStyle/>
                    <a:p>
                      <a:pPr algn="l">
                        <a:lnSpc>
                          <a:spcPts val="2340"/>
                        </a:lnSpc>
                        <a:defRPr/>
                      </a:pPr>
                      <a:r>
                        <a:rPr lang="en-US" sz="1950" b="true">
                          <a:solidFill>
                            <a:srgbClr val="44546A"/>
                          </a:solidFill>
                          <a:latin typeface="Calibri (MS) Bold"/>
                          <a:ea typeface="Calibri (MS) Bold"/>
                          <a:cs typeface="Calibri (MS) Bold"/>
                          <a:sym typeface="Calibri (MS) Bold"/>
                        </a:rPr>
                        <a:t>Kompleksitas Ruang</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E7C86"/>
                          </a:solidFill>
                          <a:latin typeface="Calibri (MS) Bold"/>
                          <a:ea typeface="Calibri (MS) Bold"/>
                          <a:cs typeface="Calibri (MS) Bold"/>
                          <a:sym typeface="Calibri (MS) Bold"/>
                        </a:rPr>
                        <a:t>O(n)</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b="true">
                          <a:solidFill>
                            <a:srgbClr val="0E7C86"/>
                          </a:solidFill>
                          <a:latin typeface="Calibri (MS) Bold"/>
                          <a:ea typeface="Calibri (MS) Bold"/>
                          <a:cs typeface="Calibri (MS) Bold"/>
                          <a:sym typeface="Calibri (MS) Bold"/>
                        </a:rPr>
                        <a:t>O(n)</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r>
            </a:tbl>
          </a:graphicData>
        </a:graphic>
      </p:graphicFrame>
      <p:grpSp>
        <p:nvGrpSpPr>
          <p:cNvPr name="Group 9" id="9"/>
          <p:cNvGrpSpPr/>
          <p:nvPr/>
        </p:nvGrpSpPr>
        <p:grpSpPr>
          <a:xfrm rot="0">
            <a:off x="815816" y="5890736"/>
            <a:ext cx="16610648" cy="3237548"/>
            <a:chOff x="0" y="0"/>
            <a:chExt cx="22147530" cy="4316730"/>
          </a:xfrm>
        </p:grpSpPr>
        <p:sp>
          <p:nvSpPr>
            <p:cNvPr name="Freeform 10" id="10"/>
            <p:cNvSpPr/>
            <p:nvPr/>
          </p:nvSpPr>
          <p:spPr>
            <a:xfrm flipH="false" flipV="false" rot="0">
              <a:off x="0" y="0"/>
              <a:ext cx="22147529" cy="4316730"/>
            </a:xfrm>
            <a:custGeom>
              <a:avLst/>
              <a:gdLst/>
              <a:ahLst/>
              <a:cxnLst/>
              <a:rect r="r" b="b" t="t" l="l"/>
              <a:pathLst>
                <a:path h="4316730" w="22147529">
                  <a:moveTo>
                    <a:pt x="0" y="146939"/>
                  </a:moveTo>
                  <a:cubicBezTo>
                    <a:pt x="0" y="65786"/>
                    <a:pt x="65786" y="0"/>
                    <a:pt x="146939" y="0"/>
                  </a:cubicBezTo>
                  <a:lnTo>
                    <a:pt x="22000590" y="0"/>
                  </a:lnTo>
                  <a:cubicBezTo>
                    <a:pt x="22081744" y="0"/>
                    <a:pt x="22147529" y="65786"/>
                    <a:pt x="22147529" y="146939"/>
                  </a:cubicBezTo>
                  <a:lnTo>
                    <a:pt x="22147529" y="4169791"/>
                  </a:lnTo>
                  <a:cubicBezTo>
                    <a:pt x="22147529" y="4250944"/>
                    <a:pt x="22081744" y="4316730"/>
                    <a:pt x="22000590" y="4316730"/>
                  </a:cubicBezTo>
                  <a:lnTo>
                    <a:pt x="146939" y="4316730"/>
                  </a:lnTo>
                  <a:cubicBezTo>
                    <a:pt x="65786" y="4316730"/>
                    <a:pt x="0" y="4250944"/>
                    <a:pt x="0" y="4169791"/>
                  </a:cubicBezTo>
                  <a:close/>
                </a:path>
              </a:pathLst>
            </a:custGeom>
            <a:solidFill>
              <a:srgbClr val="E7F1F4"/>
            </a:solidFill>
            <a:ln w="14288" cap="sq">
              <a:solidFill>
                <a:srgbClr val="D6E4E8"/>
              </a:solidFill>
              <a:prstDash val="solid"/>
              <a:miter/>
            </a:ln>
          </p:spPr>
        </p:sp>
      </p:grpSp>
      <p:grpSp>
        <p:nvGrpSpPr>
          <p:cNvPr name="Group 11" id="11"/>
          <p:cNvGrpSpPr/>
          <p:nvPr/>
        </p:nvGrpSpPr>
        <p:grpSpPr>
          <a:xfrm rot="0">
            <a:off x="1303020" y="6240780"/>
            <a:ext cx="685800" cy="685800"/>
            <a:chOff x="0" y="0"/>
            <a:chExt cx="914400" cy="914400"/>
          </a:xfrm>
        </p:grpSpPr>
        <p:sp>
          <p:nvSpPr>
            <p:cNvPr name="Freeform 12" id="12"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grpSp>
        <p:nvGrpSpPr>
          <p:cNvPr name="Group 13" id="13"/>
          <p:cNvGrpSpPr/>
          <p:nvPr/>
        </p:nvGrpSpPr>
        <p:grpSpPr>
          <a:xfrm rot="0">
            <a:off x="2194560" y="6281928"/>
            <a:ext cx="6858000" cy="548640"/>
            <a:chOff x="0" y="0"/>
            <a:chExt cx="9144000" cy="731520"/>
          </a:xfrm>
        </p:grpSpPr>
        <p:sp>
          <p:nvSpPr>
            <p:cNvPr name="Freeform 14" id="14"/>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15" id="15"/>
            <p:cNvSpPr txBox="true"/>
            <p:nvPr/>
          </p:nvSpPr>
          <p:spPr>
            <a:xfrm>
              <a:off x="0" y="-9525"/>
              <a:ext cx="9144000" cy="741045"/>
            </a:xfrm>
            <a:prstGeom prst="rect">
              <a:avLst/>
            </a:prstGeom>
          </p:spPr>
          <p:txBody>
            <a:bodyPr anchor="ctr" rtlCol="false" tIns="0" lIns="0" bIns="0" rIns="0"/>
            <a:lstStyle/>
            <a:p>
              <a:pPr algn="l">
                <a:lnSpc>
                  <a:spcPts val="2879"/>
                </a:lnSpc>
              </a:pPr>
              <a:r>
                <a:rPr lang="en-US" sz="2400" b="true">
                  <a:solidFill>
                    <a:srgbClr val="1B2A4A"/>
                  </a:solidFill>
                  <a:latin typeface="Cambria Bold"/>
                  <a:ea typeface="Cambria Bold"/>
                  <a:cs typeface="Cambria Bold"/>
                  <a:sym typeface="Cambria Bold"/>
                </a:rPr>
                <a:t>Catatan Analisis</a:t>
              </a:r>
            </a:p>
          </p:txBody>
        </p:sp>
      </p:grpSp>
      <p:sp>
        <p:nvSpPr>
          <p:cNvPr name="TextBox 16" id="16"/>
          <p:cNvSpPr txBox="true"/>
          <p:nvPr/>
        </p:nvSpPr>
        <p:spPr>
          <a:xfrm rot="0">
            <a:off x="1394460" y="6924675"/>
            <a:ext cx="15453360" cy="2013585"/>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44546A"/>
                </a:solidFill>
                <a:latin typeface="Calibri (MS)"/>
                <a:ea typeface="Calibri (MS)"/>
                <a:cs typeface="Calibri (MS)"/>
                <a:sym typeface="Calibri (MS)"/>
              </a:rPr>
              <a:t>FCFS didominasi proses sorting awal berdasarkan waktu kedatangan, O(n log n).</a:t>
            </a:r>
          </a:p>
          <a:p>
            <a:pPr algn="l" marL="352901" indent="-176451" lvl="1">
              <a:lnSpc>
                <a:spcPts val="2340"/>
              </a:lnSpc>
              <a:buFont typeface="Arial"/>
              <a:buChar char="•"/>
            </a:pPr>
            <a:r>
              <a:rPr lang="en-US" sz="1950">
                <a:solidFill>
                  <a:srgbClr val="44546A"/>
                </a:solidFill>
                <a:latin typeface="Calibri (MS)"/>
                <a:ea typeface="Calibri (MS)"/>
                <a:cs typeface="Calibri (MS)"/>
                <a:sym typeface="Calibri (MS)"/>
              </a:rPr>
              <a:t>Priority Scheduling melakukan operasi heap O(log n) secara berulang untuk setiap elemen, sehingga totalnya O(n log n).</a:t>
            </a:r>
          </a:p>
          <a:p>
            <a:pPr algn="l" marL="352901" indent="-176451" lvl="1">
              <a:lnSpc>
                <a:spcPts val="2340"/>
              </a:lnSpc>
              <a:buFont typeface="Arial"/>
              <a:buChar char="•"/>
            </a:pPr>
            <a:r>
              <a:rPr lang="en-US" sz="1950">
                <a:solidFill>
                  <a:srgbClr val="44546A"/>
                </a:solidFill>
                <a:latin typeface="Calibri (MS)"/>
                <a:ea typeface="Calibri (MS)"/>
                <a:cs typeface="Calibri (MS)"/>
                <a:sym typeface="Calibri (MS)"/>
              </a:rPr>
              <a:t>Meskipun kelas Big-O sama, karakteristik dan overhead implementasi kedua algoritma berbeda pada praktiknya.</a:t>
            </a:r>
          </a:p>
        </p:txBody>
      </p:sp>
    </p:spTree>
  </p:cSld>
  <p:clrMapOvr>
    <a:masterClrMapping/>
  </p:clrMapOvr>
  <p:transition spd="fast">
    <p:wipe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43891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0E7C86"/>
                  </a:solidFill>
                  <a:latin typeface="Calibri (MS) Bold"/>
                  <a:ea typeface="Calibri (MS) Bold"/>
                  <a:cs typeface="Calibri (MS) Bold"/>
                  <a:sym typeface="Calibri (MS) Bold"/>
                </a:rPr>
                <a:t>EKSPERIMEN PADA 4 SKALA DATA (RATA-RATA 5X PENGULANGAN)</a:t>
              </a:r>
            </a:p>
          </p:txBody>
        </p:sp>
      </p:grpSp>
      <p:grpSp>
        <p:nvGrpSpPr>
          <p:cNvPr name="Group 5" id="5"/>
          <p:cNvGrpSpPr/>
          <p:nvPr/>
        </p:nvGrpSpPr>
        <p:grpSpPr>
          <a:xfrm rot="0">
            <a:off x="822960" y="850392"/>
            <a:ext cx="16596360" cy="960120"/>
            <a:chOff x="0" y="0"/>
            <a:chExt cx="22128480" cy="1280160"/>
          </a:xfrm>
        </p:grpSpPr>
        <p:sp>
          <p:nvSpPr>
            <p:cNvPr name="Freeform 6" id="6"/>
            <p:cNvSpPr/>
            <p:nvPr/>
          </p:nvSpPr>
          <p:spPr>
            <a:xfrm flipH="false" flipV="false" rot="0">
              <a:off x="0" y="0"/>
              <a:ext cx="22128480" cy="1280160"/>
            </a:xfrm>
            <a:custGeom>
              <a:avLst/>
              <a:gdLst/>
              <a:ahLst/>
              <a:cxnLst/>
              <a:rect r="r" b="b" t="t" l="l"/>
              <a:pathLst>
                <a:path h="1280160" w="22128480">
                  <a:moveTo>
                    <a:pt x="0" y="0"/>
                  </a:moveTo>
                  <a:lnTo>
                    <a:pt x="22128480" y="0"/>
                  </a:lnTo>
                  <a:lnTo>
                    <a:pt x="22128480" y="1280160"/>
                  </a:lnTo>
                  <a:lnTo>
                    <a:pt x="0" y="1280160"/>
                  </a:lnTo>
                  <a:close/>
                </a:path>
              </a:pathLst>
            </a:custGeom>
            <a:blipFill>
              <a:blip r:embed="rId3">
                <a:alphaModFix amt="0"/>
              </a:blip>
              <a:stretch>
                <a:fillRect l="0" t="-286812" r="0" b="-286812"/>
              </a:stretch>
            </a:blipFill>
          </p:spPr>
        </p:sp>
        <p:sp>
          <p:nvSpPr>
            <p:cNvPr name="TextBox 7" id="7"/>
            <p:cNvSpPr txBox="true"/>
            <p:nvPr/>
          </p:nvSpPr>
          <p:spPr>
            <a:xfrm>
              <a:off x="0" y="-19050"/>
              <a:ext cx="22128480" cy="1299210"/>
            </a:xfrm>
            <a:prstGeom prst="rect">
              <a:avLst/>
            </a:prstGeom>
          </p:spPr>
          <p:txBody>
            <a:bodyPr anchor="ctr" rtlCol="false" tIns="0" lIns="0" bIns="0" rIns="0"/>
            <a:lstStyle/>
            <a:p>
              <a:pPr algn="l">
                <a:lnSpc>
                  <a:spcPts val="5400"/>
                </a:lnSpc>
              </a:pPr>
              <a:r>
                <a:rPr lang="en-US" sz="4500" b="true">
                  <a:solidFill>
                    <a:srgbClr val="1B2A4A"/>
                  </a:solidFill>
                  <a:latin typeface="Cambria Bold"/>
                  <a:ea typeface="Cambria Bold"/>
                  <a:cs typeface="Cambria Bold"/>
                  <a:sym typeface="Cambria Bold"/>
                </a:rPr>
                <a:t>Hasil Pengujian</a:t>
              </a:r>
            </a:p>
          </p:txBody>
        </p:sp>
      </p:grpSp>
      <p:pic>
        <p:nvPicPr>
          <p:cNvPr name="Picture 8" id="8"/>
          <p:cNvPicPr>
            <a:picLocks noChangeAspect="true"/>
          </p:cNvPicPr>
          <p:nvPr/>
        </p:nvPicPr>
        <p:blipFill>
          <a:blip r:embed="rId4"/>
          <a:stretch>
            <a:fillRect/>
          </a:stretch>
        </p:blipFill>
        <p:spPr>
          <a:xfrm rot="0">
            <a:off x="-150876" y="877824"/>
            <a:ext cx="11686032" cy="7434072"/>
          </a:xfrm>
          <a:prstGeom prst="rect">
            <a:avLst/>
          </a:prstGeom>
        </p:spPr>
      </p:pic>
      <p:graphicFrame>
        <p:nvGraphicFramePr>
          <p:cNvPr name="Table 9" id="9"/>
          <p:cNvGraphicFramePr>
            <a:graphicFrameLocks noGrp="true"/>
          </p:cNvGraphicFramePr>
          <p:nvPr/>
        </p:nvGraphicFramePr>
        <p:xfrm>
          <a:off x="10972800" y="1851660"/>
          <a:ext cx="6438900" cy="2857500"/>
        </p:xfrm>
        <a:graphic>
          <a:graphicData uri="http://schemas.openxmlformats.org/drawingml/2006/table">
            <a:tbl>
              <a:tblPr/>
              <a:tblGrid>
                <a:gridCol w="2056559"/>
                <a:gridCol w="2191170"/>
                <a:gridCol w="2191170"/>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Data</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1B2A4A"/>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FCFS (ms)</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1B2A4A"/>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Priority (ms)</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1B2A4A"/>
                    </a:solidFill>
                  </a:tcPr>
                </a:tc>
              </a:tr>
              <a:tr h="571500">
                <a:tc>
                  <a:txBody>
                    <a:bodyPr anchor="t" rtlCol="false"/>
                    <a:lstStyle/>
                    <a:p>
                      <a:pPr algn="ctr">
                        <a:lnSpc>
                          <a:spcPts val="2160"/>
                        </a:lnSpc>
                        <a:defRPr/>
                      </a:pPr>
                      <a:r>
                        <a:rPr lang="en-US" sz="1800">
                          <a:solidFill>
                            <a:srgbClr val="44546A"/>
                          </a:solidFill>
                          <a:latin typeface="Calibri (MS)"/>
                          <a:ea typeface="Calibri (MS)"/>
                          <a:cs typeface="Calibri (MS)"/>
                          <a:sym typeface="Calibri (MS)"/>
                        </a:rPr>
                        <a:t>50</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0.0702</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6.4553</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r>
              <a:tr h="571500">
                <a:tc>
                  <a:txBody>
                    <a:bodyPr anchor="t" rtlCol="false"/>
                    <a:lstStyle/>
                    <a:p>
                      <a:pPr algn="ctr">
                        <a:lnSpc>
                          <a:spcPts val="2160"/>
                        </a:lnSpc>
                        <a:defRPr/>
                      </a:pPr>
                      <a:r>
                        <a:rPr lang="en-US" sz="1800">
                          <a:solidFill>
                            <a:srgbClr val="44546A"/>
                          </a:solidFill>
                          <a:latin typeface="Calibri (MS)"/>
                          <a:ea typeface="Calibri (MS)"/>
                          <a:cs typeface="Calibri (MS)"/>
                          <a:sym typeface="Calibri (MS)"/>
                        </a:rPr>
                        <a:t>100</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0.1350</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0.9253</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r>
              <a:tr h="571500">
                <a:tc>
                  <a:txBody>
                    <a:bodyPr anchor="t" rtlCol="false"/>
                    <a:lstStyle/>
                    <a:p>
                      <a:pPr algn="ctr">
                        <a:lnSpc>
                          <a:spcPts val="2160"/>
                        </a:lnSpc>
                        <a:defRPr/>
                      </a:pPr>
                      <a:r>
                        <a:rPr lang="en-US" sz="1800">
                          <a:solidFill>
                            <a:srgbClr val="44546A"/>
                          </a:solidFill>
                          <a:latin typeface="Calibri (MS)"/>
                          <a:ea typeface="Calibri (MS)"/>
                          <a:cs typeface="Calibri (MS)"/>
                          <a:sym typeface="Calibri (MS)"/>
                        </a:rPr>
                        <a:t>500</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0.8410</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9.7806</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r>
              <a:tr h="571500">
                <a:tc>
                  <a:txBody>
                    <a:bodyPr anchor="t" rtlCol="false"/>
                    <a:lstStyle/>
                    <a:p>
                      <a:pPr algn="ctr">
                        <a:lnSpc>
                          <a:spcPts val="2160"/>
                        </a:lnSpc>
                        <a:defRPr/>
                      </a:pPr>
                      <a:r>
                        <a:rPr lang="en-US" sz="1800">
                          <a:solidFill>
                            <a:srgbClr val="44546A"/>
                          </a:solidFill>
                          <a:latin typeface="Calibri (MS)"/>
                          <a:ea typeface="Calibri (MS)"/>
                          <a:cs typeface="Calibri (MS)"/>
                          <a:sym typeface="Calibri (MS)"/>
                        </a:rPr>
                        <a:t>1.000</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1.5121</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c>
                  <a:txBody>
                    <a:bodyPr anchor="t" rtlCol="false"/>
                    <a:lstStyle/>
                    <a:p>
                      <a:pPr algn="ctr">
                        <a:lnSpc>
                          <a:spcPts val="2160"/>
                        </a:lnSpc>
                        <a:defRPr/>
                      </a:pPr>
                      <a:r>
                        <a:rPr lang="en-US" sz="1800">
                          <a:solidFill>
                            <a:srgbClr val="44546A"/>
                          </a:solidFill>
                          <a:latin typeface="Calibri (MS)"/>
                          <a:ea typeface="Calibri (MS)"/>
                          <a:cs typeface="Calibri (MS)"/>
                          <a:sym typeface="Calibri (MS)"/>
                        </a:rPr>
                        <a:t>17.4120</a:t>
                      </a:r>
                      <a:endParaRPr lang="en-US" sz="1100"/>
                    </a:p>
                  </a:txBody>
                  <a:tcPr marL="91440" marR="91440" marT="91440" marB="91440" anchor="ctr">
                    <a:lnL cmpd="sng" algn="ctr" cap="flat" w="12700">
                      <a:solidFill>
                        <a:srgbClr val="D6E4E8"/>
                      </a:solidFill>
                      <a:prstDash val="solid"/>
                      <a:round/>
                      <a:headEnd type="none" w="med" len="med"/>
                      <a:tailEnd type="none" w="med" len="med"/>
                    </a:lnL>
                    <a:lnR cmpd="sng" algn="ctr" cap="flat" w="12700">
                      <a:solidFill>
                        <a:srgbClr val="D6E4E8"/>
                      </a:solidFill>
                      <a:prstDash val="solid"/>
                      <a:round/>
                      <a:headEnd type="none" w="med" len="med"/>
                      <a:tailEnd type="none" w="med" len="med"/>
                    </a:lnR>
                    <a:lnT cmpd="sng" algn="ctr" cap="flat" w="12700">
                      <a:solidFill>
                        <a:srgbClr val="D6E4E8"/>
                      </a:solidFill>
                      <a:prstDash val="solid"/>
                      <a:round/>
                      <a:headEnd type="none" w="med" len="med"/>
                      <a:tailEnd type="none" w="med" len="med"/>
                    </a:lnT>
                    <a:lnB cmpd="sng" algn="ctr" cap="flat" w="12700">
                      <a:solidFill>
                        <a:srgbClr val="D6E4E8"/>
                      </a:solidFill>
                      <a:prstDash val="solid"/>
                      <a:round/>
                      <a:headEnd type="none" w="med" len="med"/>
                      <a:tailEnd type="none" w="med" len="med"/>
                    </a:lnB>
                    <a:solidFill>
                      <a:srgbClr val="FFFFFF"/>
                    </a:solidFill>
                  </a:tcPr>
                </a:tc>
              </a:tr>
            </a:tbl>
          </a:graphicData>
        </a:graphic>
      </p:graphicFrame>
      <p:grpSp>
        <p:nvGrpSpPr>
          <p:cNvPr name="Group 10" id="10"/>
          <p:cNvGrpSpPr/>
          <p:nvPr/>
        </p:nvGrpSpPr>
        <p:grpSpPr>
          <a:xfrm rot="0">
            <a:off x="10965656" y="5136356"/>
            <a:ext cx="6460808" cy="4060508"/>
            <a:chOff x="0" y="0"/>
            <a:chExt cx="8614410" cy="5414010"/>
          </a:xfrm>
        </p:grpSpPr>
        <p:sp>
          <p:nvSpPr>
            <p:cNvPr name="Freeform 11" id="11"/>
            <p:cNvSpPr/>
            <p:nvPr/>
          </p:nvSpPr>
          <p:spPr>
            <a:xfrm flipH="false" flipV="false" rot="0">
              <a:off x="0" y="0"/>
              <a:ext cx="8614410" cy="5414010"/>
            </a:xfrm>
            <a:custGeom>
              <a:avLst/>
              <a:gdLst/>
              <a:ahLst/>
              <a:cxnLst/>
              <a:rect r="r" b="b" t="t" l="l"/>
              <a:pathLst>
                <a:path h="5414010" w="8614410">
                  <a:moveTo>
                    <a:pt x="0" y="146812"/>
                  </a:moveTo>
                  <a:cubicBezTo>
                    <a:pt x="0" y="65786"/>
                    <a:pt x="65786" y="0"/>
                    <a:pt x="146812" y="0"/>
                  </a:cubicBezTo>
                  <a:lnTo>
                    <a:pt x="8467598" y="0"/>
                  </a:lnTo>
                  <a:cubicBezTo>
                    <a:pt x="8548751" y="0"/>
                    <a:pt x="8614410" y="65786"/>
                    <a:pt x="8614410" y="146812"/>
                  </a:cubicBezTo>
                  <a:lnTo>
                    <a:pt x="8614410" y="5267198"/>
                  </a:lnTo>
                  <a:cubicBezTo>
                    <a:pt x="8614410" y="5348351"/>
                    <a:pt x="8548624" y="5414010"/>
                    <a:pt x="8467598" y="5414010"/>
                  </a:cubicBezTo>
                  <a:lnTo>
                    <a:pt x="146812" y="5414010"/>
                  </a:lnTo>
                  <a:cubicBezTo>
                    <a:pt x="65786" y="5414010"/>
                    <a:pt x="0" y="5348224"/>
                    <a:pt x="0" y="5267198"/>
                  </a:cubicBezTo>
                  <a:close/>
                </a:path>
              </a:pathLst>
            </a:custGeom>
            <a:solidFill>
              <a:srgbClr val="E7F1F4"/>
            </a:solidFill>
            <a:ln w="14288" cap="sq">
              <a:solidFill>
                <a:srgbClr val="D6E4E8"/>
              </a:solidFill>
              <a:prstDash val="solid"/>
              <a:miter/>
            </a:ln>
          </p:spPr>
        </p:sp>
      </p:grpSp>
      <p:grpSp>
        <p:nvGrpSpPr>
          <p:cNvPr name="Group 12" id="12"/>
          <p:cNvGrpSpPr/>
          <p:nvPr/>
        </p:nvGrpSpPr>
        <p:grpSpPr>
          <a:xfrm rot="0">
            <a:off x="11384280" y="5417820"/>
            <a:ext cx="5486400" cy="480060"/>
            <a:chOff x="0" y="0"/>
            <a:chExt cx="7315200" cy="640080"/>
          </a:xfrm>
        </p:grpSpPr>
        <p:sp>
          <p:nvSpPr>
            <p:cNvPr name="Freeform 13" id="13"/>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3">
                <a:alphaModFix amt="0"/>
              </a:blip>
              <a:stretch>
                <a:fillRect l="0" t="-172686" r="0" b="-172686"/>
              </a:stretch>
            </a:blipFill>
          </p:spPr>
        </p:sp>
        <p:sp>
          <p:nvSpPr>
            <p:cNvPr name="TextBox 14" id="14"/>
            <p:cNvSpPr txBox="true"/>
            <p:nvPr/>
          </p:nvSpPr>
          <p:spPr>
            <a:xfrm>
              <a:off x="0" y="-19050"/>
              <a:ext cx="7315200" cy="659130"/>
            </a:xfrm>
            <a:prstGeom prst="rect">
              <a:avLst/>
            </a:prstGeom>
          </p:spPr>
          <p:txBody>
            <a:bodyPr anchor="ctr" rtlCol="false" tIns="0" lIns="0" bIns="0" rIns="0"/>
            <a:lstStyle/>
            <a:p>
              <a:pPr algn="l">
                <a:lnSpc>
                  <a:spcPts val="2520"/>
                </a:lnSpc>
              </a:pPr>
              <a:r>
                <a:rPr lang="en-US" sz="2100" b="true">
                  <a:solidFill>
                    <a:srgbClr val="1B2A4A"/>
                  </a:solidFill>
                  <a:latin typeface="Cambria Bold"/>
                  <a:ea typeface="Cambria Bold"/>
                  <a:cs typeface="Cambria Bold"/>
                  <a:sym typeface="Cambria Bold"/>
                </a:rPr>
                <a:t>Interpretasi</a:t>
              </a:r>
            </a:p>
          </p:txBody>
        </p:sp>
      </p:grpSp>
      <p:sp>
        <p:nvSpPr>
          <p:cNvPr name="TextBox 15" id="15"/>
          <p:cNvSpPr txBox="true"/>
          <p:nvPr/>
        </p:nvSpPr>
        <p:spPr>
          <a:xfrm rot="0">
            <a:off x="11475720" y="5974080"/>
            <a:ext cx="5509260" cy="1581150"/>
          </a:xfrm>
          <a:prstGeom prst="rect">
            <a:avLst/>
          </a:prstGeom>
        </p:spPr>
        <p:txBody>
          <a:bodyPr anchor="t" rtlCol="false" tIns="0" lIns="0" bIns="0" rIns="0">
            <a:spAutoFit/>
          </a:bodyPr>
          <a:lstStyle/>
          <a:p>
            <a:pPr algn="l" marL="312182" indent="-156091" lvl="1">
              <a:lnSpc>
                <a:spcPts val="2070"/>
              </a:lnSpc>
              <a:buFont typeface="Arial"/>
              <a:buChar char="•"/>
            </a:pPr>
            <a:r>
              <a:rPr lang="en-US" sz="1725">
                <a:solidFill>
                  <a:srgbClr val="44546A"/>
                </a:solidFill>
                <a:latin typeface="Calibri (MS)"/>
                <a:ea typeface="Calibri (MS)"/>
                <a:cs typeface="Calibri (MS)"/>
                <a:sym typeface="Calibri (MS)"/>
              </a:rPr>
              <a:t>FCFS konsisten lebih cepat pada seluruh skala data pengujian.</a:t>
            </a:r>
          </a:p>
          <a:p>
            <a:pPr algn="l" marL="312182" indent="-156091" lvl="1">
              <a:lnSpc>
                <a:spcPts val="2070"/>
              </a:lnSpc>
              <a:buFont typeface="Arial"/>
              <a:buChar char="•"/>
            </a:pPr>
            <a:r>
              <a:rPr lang="en-US" sz="1725">
                <a:solidFill>
                  <a:srgbClr val="44546A"/>
                </a:solidFill>
                <a:latin typeface="Calibri (MS)"/>
                <a:ea typeface="Calibri (MS)"/>
                <a:cs typeface="Calibri (MS)"/>
                <a:sym typeface="Calibri (MS)"/>
              </a:rPr>
              <a:t>Waktu eksekusi Priority Scheduling meningkat lebih besar karena overhead operasi binary heap manual.</a:t>
            </a:r>
          </a:p>
          <a:p>
            <a:pPr algn="l" marL="312182" indent="-156091" lvl="1">
              <a:lnSpc>
                <a:spcPts val="2070"/>
              </a:lnSpc>
              <a:buFont typeface="Arial"/>
              <a:buChar char="•"/>
            </a:pPr>
            <a:r>
              <a:rPr lang="en-US" sz="1725">
                <a:solidFill>
                  <a:srgbClr val="44546A"/>
                </a:solidFill>
                <a:latin typeface="Calibri (MS)"/>
                <a:ea typeface="Calibri (MS)"/>
                <a:cs typeface="Calibri (MS)"/>
                <a:sym typeface="Calibri (MS)"/>
              </a:rPr>
              <a:t>Hasil eksperimen tidak boleh disimpulkan hanya dari Big-O — konstanta &amp; implementasi aktual berpengaruh.</a:t>
            </a:r>
          </a:p>
        </p:txBody>
      </p:sp>
    </p:spTree>
  </p:cSld>
  <p:clrMapOvr>
    <a:masterClrMapping/>
  </p:clrMapOvr>
  <p:transition spd="fast">
    <p:wipe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B2A4A"/>
        </a:solidFill>
      </p:bgPr>
    </p:bg>
    <p:spTree>
      <p:nvGrpSpPr>
        <p:cNvPr id="1" name=""/>
        <p:cNvGrpSpPr/>
        <p:nvPr/>
      </p:nvGrpSpPr>
      <p:grpSpPr>
        <a:xfrm>
          <a:off x="0" y="0"/>
          <a:ext cx="0" cy="0"/>
          <a:chOff x="0" y="0"/>
          <a:chExt cx="0" cy="0"/>
        </a:xfrm>
      </p:grpSpPr>
      <p:grpSp>
        <p:nvGrpSpPr>
          <p:cNvPr name="Group 2" id="2"/>
          <p:cNvGrpSpPr/>
          <p:nvPr/>
        </p:nvGrpSpPr>
        <p:grpSpPr>
          <a:xfrm rot="0">
            <a:off x="13990320" y="6583680"/>
            <a:ext cx="6858000" cy="6858000"/>
            <a:chOff x="0" y="0"/>
            <a:chExt cx="9144000" cy="9144000"/>
          </a:xfrm>
        </p:grpSpPr>
        <p:sp>
          <p:nvSpPr>
            <p:cNvPr name="Freeform 3" id="3"/>
            <p:cNvSpPr/>
            <p:nvPr/>
          </p:nvSpPr>
          <p:spPr>
            <a:xfrm flipH="false" flipV="false" rot="0">
              <a:off x="0" y="0"/>
              <a:ext cx="9144000" cy="9144000"/>
            </a:xfrm>
            <a:custGeom>
              <a:avLst/>
              <a:gdLst/>
              <a:ahLst/>
              <a:cxnLst/>
              <a:rect r="r" b="b" t="t" l="l"/>
              <a:pathLst>
                <a:path h="9144000" w="9144000">
                  <a:moveTo>
                    <a:pt x="0" y="4572000"/>
                  </a:moveTo>
                  <a:cubicBezTo>
                    <a:pt x="0" y="2046986"/>
                    <a:pt x="2046986" y="0"/>
                    <a:pt x="4572000" y="0"/>
                  </a:cubicBezTo>
                  <a:cubicBezTo>
                    <a:pt x="7097014" y="0"/>
                    <a:pt x="9144000" y="2046986"/>
                    <a:pt x="9144000" y="4572000"/>
                  </a:cubicBezTo>
                  <a:cubicBezTo>
                    <a:pt x="9144000" y="7097014"/>
                    <a:pt x="7097014" y="9144000"/>
                    <a:pt x="4572000" y="9144000"/>
                  </a:cubicBezTo>
                  <a:cubicBezTo>
                    <a:pt x="2046986" y="9144000"/>
                    <a:pt x="0" y="7097014"/>
                    <a:pt x="0" y="4572000"/>
                  </a:cubicBezTo>
                  <a:close/>
                </a:path>
              </a:pathLst>
            </a:custGeom>
            <a:solidFill>
              <a:srgbClr val="0E7C86">
                <a:alpha val="1961"/>
              </a:srgbClr>
            </a:solidFill>
          </p:spPr>
        </p:sp>
      </p:grpSp>
      <p:grpSp>
        <p:nvGrpSpPr>
          <p:cNvPr name="Group 4" id="4"/>
          <p:cNvGrpSpPr/>
          <p:nvPr/>
        </p:nvGrpSpPr>
        <p:grpSpPr>
          <a:xfrm rot="0">
            <a:off x="822960" y="548640"/>
            <a:ext cx="10972800" cy="480060"/>
            <a:chOff x="0" y="0"/>
            <a:chExt cx="14630400" cy="640080"/>
          </a:xfrm>
        </p:grpSpPr>
        <p:sp>
          <p:nvSpPr>
            <p:cNvPr name="Freeform 5" id="5"/>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6" id="6"/>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3FB6A8"/>
                  </a:solidFill>
                  <a:latin typeface="Calibri (MS) Bold"/>
                  <a:ea typeface="Calibri (MS) Bold"/>
                  <a:cs typeface="Calibri (MS) Bold"/>
                  <a:sym typeface="Calibri (MS) Bold"/>
                </a:rPr>
                <a:t>KESIMPULAN &amp; REKOMENDASI</a:t>
              </a:r>
            </a:p>
          </p:txBody>
        </p:sp>
      </p:grpSp>
      <p:grpSp>
        <p:nvGrpSpPr>
          <p:cNvPr name="Group 7" id="7"/>
          <p:cNvGrpSpPr/>
          <p:nvPr/>
        </p:nvGrpSpPr>
        <p:grpSpPr>
          <a:xfrm rot="0">
            <a:off x="822960" y="987552"/>
            <a:ext cx="15773400" cy="822960"/>
            <a:chOff x="0" y="0"/>
            <a:chExt cx="21031200" cy="1097280"/>
          </a:xfrm>
        </p:grpSpPr>
        <p:sp>
          <p:nvSpPr>
            <p:cNvPr name="Freeform 8" id="8"/>
            <p:cNvSpPr/>
            <p:nvPr/>
          </p:nvSpPr>
          <p:spPr>
            <a:xfrm flipH="false" flipV="false" rot="0">
              <a:off x="0" y="0"/>
              <a:ext cx="21031200" cy="1097280"/>
            </a:xfrm>
            <a:custGeom>
              <a:avLst/>
              <a:gdLst/>
              <a:ahLst/>
              <a:cxnLst/>
              <a:rect r="r" b="b" t="t" l="l"/>
              <a:pathLst>
                <a:path h="1097280" w="21031200">
                  <a:moveTo>
                    <a:pt x="0" y="0"/>
                  </a:moveTo>
                  <a:lnTo>
                    <a:pt x="21031200" y="0"/>
                  </a:lnTo>
                  <a:lnTo>
                    <a:pt x="21031200" y="1097280"/>
                  </a:lnTo>
                  <a:lnTo>
                    <a:pt x="0" y="1097280"/>
                  </a:lnTo>
                  <a:close/>
                </a:path>
              </a:pathLst>
            </a:custGeom>
            <a:blipFill>
              <a:blip r:embed="rId3">
                <a:alphaModFix amt="0"/>
              </a:blip>
              <a:stretch>
                <a:fillRect l="0" t="-323463" r="0" b="-323463"/>
              </a:stretch>
            </a:blipFill>
          </p:spPr>
        </p:sp>
        <p:sp>
          <p:nvSpPr>
            <p:cNvPr name="TextBox 9" id="9"/>
            <p:cNvSpPr txBox="true"/>
            <p:nvPr/>
          </p:nvSpPr>
          <p:spPr>
            <a:xfrm>
              <a:off x="0" y="-9525"/>
              <a:ext cx="21031200" cy="1106805"/>
            </a:xfrm>
            <a:prstGeom prst="rect">
              <a:avLst/>
            </a:prstGeom>
          </p:spPr>
          <p:txBody>
            <a:bodyPr anchor="ctr" rtlCol="false" tIns="0" lIns="0" bIns="0" rIns="0"/>
            <a:lstStyle/>
            <a:p>
              <a:pPr algn="l">
                <a:lnSpc>
                  <a:spcPts val="5040"/>
                </a:lnSpc>
              </a:pPr>
              <a:r>
                <a:rPr lang="en-US" sz="4200" b="true">
                  <a:solidFill>
                    <a:srgbClr val="FFFFFF"/>
                  </a:solidFill>
                  <a:latin typeface="Cambria Bold"/>
                  <a:ea typeface="Cambria Bold"/>
                  <a:cs typeface="Cambria Bold"/>
                  <a:sym typeface="Cambria Bold"/>
                </a:rPr>
                <a:t>Pemilihan Algoritma yang Tepat</a:t>
              </a:r>
            </a:p>
          </p:txBody>
        </p:sp>
      </p:grpSp>
      <p:grpSp>
        <p:nvGrpSpPr>
          <p:cNvPr name="Group 10" id="10"/>
          <p:cNvGrpSpPr/>
          <p:nvPr/>
        </p:nvGrpSpPr>
        <p:grpSpPr>
          <a:xfrm rot="0">
            <a:off x="822960" y="2263140"/>
            <a:ext cx="8161020" cy="4869180"/>
            <a:chOff x="0" y="0"/>
            <a:chExt cx="10881360" cy="6492240"/>
          </a:xfrm>
        </p:grpSpPr>
        <p:sp>
          <p:nvSpPr>
            <p:cNvPr name="Freeform 11" id="11"/>
            <p:cNvSpPr/>
            <p:nvPr/>
          </p:nvSpPr>
          <p:spPr>
            <a:xfrm flipH="false" flipV="false" rot="0">
              <a:off x="0" y="0"/>
              <a:ext cx="10881361" cy="6492240"/>
            </a:xfrm>
            <a:custGeom>
              <a:avLst/>
              <a:gdLst/>
              <a:ahLst/>
              <a:cxnLst/>
              <a:rect r="r" b="b" t="t" l="l"/>
              <a:pathLst>
                <a:path h="6492240" w="10881361">
                  <a:moveTo>
                    <a:pt x="0" y="146304"/>
                  </a:moveTo>
                  <a:cubicBezTo>
                    <a:pt x="0" y="65532"/>
                    <a:pt x="65532" y="0"/>
                    <a:pt x="146304" y="0"/>
                  </a:cubicBezTo>
                  <a:lnTo>
                    <a:pt x="10735056" y="0"/>
                  </a:lnTo>
                  <a:cubicBezTo>
                    <a:pt x="10815828" y="0"/>
                    <a:pt x="10881361" y="65532"/>
                    <a:pt x="10881361" y="146304"/>
                  </a:cubicBezTo>
                  <a:lnTo>
                    <a:pt x="10881361" y="6345936"/>
                  </a:lnTo>
                  <a:cubicBezTo>
                    <a:pt x="10881361" y="6426708"/>
                    <a:pt x="10815828" y="6492240"/>
                    <a:pt x="10735056" y="6492240"/>
                  </a:cubicBezTo>
                  <a:lnTo>
                    <a:pt x="146304" y="6492240"/>
                  </a:lnTo>
                  <a:cubicBezTo>
                    <a:pt x="65532" y="6492240"/>
                    <a:pt x="0" y="6426708"/>
                    <a:pt x="0" y="6345936"/>
                  </a:cubicBezTo>
                  <a:close/>
                </a:path>
              </a:pathLst>
            </a:custGeom>
            <a:solidFill>
              <a:srgbClr val="23375C"/>
            </a:solidFill>
          </p:spPr>
        </p:sp>
      </p:grpSp>
      <p:grpSp>
        <p:nvGrpSpPr>
          <p:cNvPr name="Group 12" id="12"/>
          <p:cNvGrpSpPr/>
          <p:nvPr/>
        </p:nvGrpSpPr>
        <p:grpSpPr>
          <a:xfrm rot="0">
            <a:off x="9326880" y="2263140"/>
            <a:ext cx="8161020" cy="4869180"/>
            <a:chOff x="0" y="0"/>
            <a:chExt cx="10881360" cy="6492240"/>
          </a:xfrm>
        </p:grpSpPr>
        <p:sp>
          <p:nvSpPr>
            <p:cNvPr name="Freeform 13" id="13"/>
            <p:cNvSpPr/>
            <p:nvPr/>
          </p:nvSpPr>
          <p:spPr>
            <a:xfrm flipH="false" flipV="false" rot="0">
              <a:off x="0" y="0"/>
              <a:ext cx="10881361" cy="6492240"/>
            </a:xfrm>
            <a:custGeom>
              <a:avLst/>
              <a:gdLst/>
              <a:ahLst/>
              <a:cxnLst/>
              <a:rect r="r" b="b" t="t" l="l"/>
              <a:pathLst>
                <a:path h="6492240" w="10881361">
                  <a:moveTo>
                    <a:pt x="0" y="146304"/>
                  </a:moveTo>
                  <a:cubicBezTo>
                    <a:pt x="0" y="65532"/>
                    <a:pt x="65532" y="0"/>
                    <a:pt x="146304" y="0"/>
                  </a:cubicBezTo>
                  <a:lnTo>
                    <a:pt x="10735056" y="0"/>
                  </a:lnTo>
                  <a:cubicBezTo>
                    <a:pt x="10815828" y="0"/>
                    <a:pt x="10881361" y="65532"/>
                    <a:pt x="10881361" y="146304"/>
                  </a:cubicBezTo>
                  <a:lnTo>
                    <a:pt x="10881361" y="6345936"/>
                  </a:lnTo>
                  <a:cubicBezTo>
                    <a:pt x="10881361" y="6426708"/>
                    <a:pt x="10815828" y="6492240"/>
                    <a:pt x="10735056" y="6492240"/>
                  </a:cubicBezTo>
                  <a:lnTo>
                    <a:pt x="146304" y="6492240"/>
                  </a:lnTo>
                  <a:cubicBezTo>
                    <a:pt x="65532" y="6492240"/>
                    <a:pt x="0" y="6426708"/>
                    <a:pt x="0" y="6345936"/>
                  </a:cubicBezTo>
                  <a:close/>
                </a:path>
              </a:pathLst>
            </a:custGeom>
            <a:solidFill>
              <a:srgbClr val="23375C"/>
            </a:solidFill>
          </p:spPr>
        </p:sp>
      </p:grpSp>
      <p:grpSp>
        <p:nvGrpSpPr>
          <p:cNvPr name="Group 14" id="14"/>
          <p:cNvGrpSpPr/>
          <p:nvPr/>
        </p:nvGrpSpPr>
        <p:grpSpPr>
          <a:xfrm rot="0">
            <a:off x="1303020" y="2606040"/>
            <a:ext cx="685800" cy="685800"/>
            <a:chOff x="0" y="0"/>
            <a:chExt cx="914400" cy="914400"/>
          </a:xfrm>
        </p:grpSpPr>
        <p:sp>
          <p:nvSpPr>
            <p:cNvPr name="Freeform 15" id="15"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grpSp>
        <p:nvGrpSpPr>
          <p:cNvPr name="Group 16" id="16"/>
          <p:cNvGrpSpPr/>
          <p:nvPr/>
        </p:nvGrpSpPr>
        <p:grpSpPr>
          <a:xfrm rot="0">
            <a:off x="2194560" y="2633472"/>
            <a:ext cx="6583680" cy="617220"/>
            <a:chOff x="0" y="0"/>
            <a:chExt cx="8778240" cy="822960"/>
          </a:xfrm>
        </p:grpSpPr>
        <p:sp>
          <p:nvSpPr>
            <p:cNvPr name="Freeform 17" id="17"/>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18" id="18"/>
            <p:cNvSpPr txBox="true"/>
            <p:nvPr/>
          </p:nvSpPr>
          <p:spPr>
            <a:xfrm>
              <a:off x="0" y="-19050"/>
              <a:ext cx="8778240" cy="842010"/>
            </a:xfrm>
            <a:prstGeom prst="rect">
              <a:avLst/>
            </a:prstGeom>
          </p:spPr>
          <p:txBody>
            <a:bodyPr anchor="ctr" rtlCol="false" tIns="0" lIns="0" bIns="0" rIns="0"/>
            <a:lstStyle/>
            <a:p>
              <a:pPr algn="l">
                <a:lnSpc>
                  <a:spcPts val="3240"/>
                </a:lnSpc>
              </a:pPr>
              <a:r>
                <a:rPr lang="en-US" sz="2700" b="true">
                  <a:solidFill>
                    <a:srgbClr val="FFFFFF"/>
                  </a:solidFill>
                  <a:latin typeface="Cambria Bold"/>
                  <a:ea typeface="Cambria Bold"/>
                  <a:cs typeface="Cambria Bold"/>
                  <a:sym typeface="Cambria Bold"/>
                </a:rPr>
                <a:t>FCFS + Queue</a:t>
              </a:r>
            </a:p>
          </p:txBody>
        </p:sp>
      </p:grpSp>
      <p:sp>
        <p:nvSpPr>
          <p:cNvPr name="TextBox 19" id="19"/>
          <p:cNvSpPr txBox="true"/>
          <p:nvPr/>
        </p:nvSpPr>
        <p:spPr>
          <a:xfrm rot="0">
            <a:off x="1463040" y="3495675"/>
            <a:ext cx="6880860" cy="3385185"/>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D5E3E6"/>
                </a:solidFill>
                <a:latin typeface="Calibri (MS)"/>
                <a:ea typeface="Calibri (MS)"/>
                <a:cs typeface="Calibri (MS)"/>
                <a:sym typeface="Calibri (MS)"/>
              </a:rPr>
              <a:t>Cocok untuk layanan umum</a:t>
            </a:r>
          </a:p>
          <a:p>
            <a:pPr algn="l" marL="352901" indent="-176451" lvl="1">
              <a:lnSpc>
                <a:spcPts val="2340"/>
              </a:lnSpc>
              <a:buFont typeface="Arial"/>
              <a:buChar char="•"/>
            </a:pPr>
            <a:r>
              <a:rPr lang="en-US" sz="1950">
                <a:solidFill>
                  <a:srgbClr val="D5E3E6"/>
                </a:solidFill>
                <a:latin typeface="Calibri (MS)"/>
                <a:ea typeface="Calibri (MS)"/>
                <a:cs typeface="Calibri (MS)"/>
                <a:sym typeface="Calibri (MS)"/>
              </a:rPr>
              <a:t>Menekankan fairness / keadilan urutan</a:t>
            </a:r>
          </a:p>
          <a:p>
            <a:pPr algn="l" marL="352901" indent="-176451" lvl="1">
              <a:lnSpc>
                <a:spcPts val="2340"/>
              </a:lnSpc>
              <a:buFont typeface="Arial"/>
              <a:buChar char="•"/>
            </a:pPr>
            <a:r>
              <a:rPr lang="en-US" sz="1950">
                <a:solidFill>
                  <a:srgbClr val="D5E3E6"/>
                </a:solidFill>
                <a:latin typeface="Calibri (MS)"/>
                <a:ea typeface="Calibri (MS)"/>
                <a:cs typeface="Calibri (MS)"/>
                <a:sym typeface="Calibri (MS)"/>
              </a:rPr>
              <a:t>Berdasarkan urutan kedatangan</a:t>
            </a:r>
          </a:p>
          <a:p>
            <a:pPr algn="l" marL="352901" indent="-176451" lvl="1">
              <a:lnSpc>
                <a:spcPts val="2340"/>
              </a:lnSpc>
              <a:buFont typeface="Arial"/>
              <a:buChar char="•"/>
            </a:pPr>
            <a:r>
              <a:rPr lang="en-US" sz="1950">
                <a:solidFill>
                  <a:srgbClr val="D5E3E6"/>
                </a:solidFill>
                <a:latin typeface="Calibri (MS)"/>
                <a:ea typeface="Calibri (MS)"/>
                <a:cs typeface="Calibri (MS)"/>
                <a:sym typeface="Calibri (MS)"/>
              </a:rPr>
              <a:t>Implementasi sederhana, waktu eksekusi eksperimen lebih rendah</a:t>
            </a:r>
          </a:p>
        </p:txBody>
      </p:sp>
      <p:grpSp>
        <p:nvGrpSpPr>
          <p:cNvPr name="Group 20" id="20"/>
          <p:cNvGrpSpPr/>
          <p:nvPr/>
        </p:nvGrpSpPr>
        <p:grpSpPr>
          <a:xfrm rot="0">
            <a:off x="9806940" y="2606040"/>
            <a:ext cx="685800" cy="685800"/>
            <a:chOff x="0" y="0"/>
            <a:chExt cx="914400" cy="914400"/>
          </a:xfrm>
        </p:grpSpPr>
        <p:sp>
          <p:nvSpPr>
            <p:cNvPr name="Freeform 21" id="21" descr="preencoded.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5"/>
              <a:stretch>
                <a:fillRect l="0" t="0" r="0" b="0"/>
              </a:stretch>
            </a:blipFill>
          </p:spPr>
        </p:sp>
      </p:grpSp>
      <p:grpSp>
        <p:nvGrpSpPr>
          <p:cNvPr name="Group 22" id="22"/>
          <p:cNvGrpSpPr/>
          <p:nvPr/>
        </p:nvGrpSpPr>
        <p:grpSpPr>
          <a:xfrm rot="0">
            <a:off x="10698480" y="2633472"/>
            <a:ext cx="6858000" cy="617220"/>
            <a:chOff x="0" y="0"/>
            <a:chExt cx="9144000" cy="822960"/>
          </a:xfrm>
        </p:grpSpPr>
        <p:sp>
          <p:nvSpPr>
            <p:cNvPr name="Freeform 23" id="23"/>
            <p:cNvSpPr/>
            <p:nvPr/>
          </p:nvSpPr>
          <p:spPr>
            <a:xfrm flipH="false" flipV="false" rot="0">
              <a:off x="0" y="0"/>
              <a:ext cx="9144000" cy="822960"/>
            </a:xfrm>
            <a:custGeom>
              <a:avLst/>
              <a:gdLst/>
              <a:ahLst/>
              <a:cxnLst/>
              <a:rect r="r" b="b" t="t" l="l"/>
              <a:pathLst>
                <a:path h="822960" w="9144000">
                  <a:moveTo>
                    <a:pt x="0" y="0"/>
                  </a:moveTo>
                  <a:lnTo>
                    <a:pt x="9144000" y="0"/>
                  </a:lnTo>
                  <a:lnTo>
                    <a:pt x="9144000" y="822960"/>
                  </a:lnTo>
                  <a:lnTo>
                    <a:pt x="0" y="822960"/>
                  </a:lnTo>
                  <a:close/>
                </a:path>
              </a:pathLst>
            </a:custGeom>
            <a:blipFill>
              <a:blip r:embed="rId3">
                <a:alphaModFix amt="0"/>
              </a:blip>
              <a:stretch>
                <a:fillRect l="0" t="-166500" r="0" b="-166500"/>
              </a:stretch>
            </a:blipFill>
          </p:spPr>
        </p:sp>
        <p:sp>
          <p:nvSpPr>
            <p:cNvPr name="TextBox 24" id="24"/>
            <p:cNvSpPr txBox="true"/>
            <p:nvPr/>
          </p:nvSpPr>
          <p:spPr>
            <a:xfrm>
              <a:off x="0" y="-19050"/>
              <a:ext cx="9144000" cy="842010"/>
            </a:xfrm>
            <a:prstGeom prst="rect">
              <a:avLst/>
            </a:prstGeom>
          </p:spPr>
          <p:txBody>
            <a:bodyPr anchor="ctr" rtlCol="false" tIns="0" lIns="0" bIns="0" rIns="0"/>
            <a:lstStyle/>
            <a:p>
              <a:pPr algn="l">
                <a:lnSpc>
                  <a:spcPts val="3240"/>
                </a:lnSpc>
              </a:pPr>
              <a:r>
                <a:rPr lang="en-US" sz="2700" b="true">
                  <a:solidFill>
                    <a:srgbClr val="FFFFFF"/>
                  </a:solidFill>
                  <a:latin typeface="Cambria Bold"/>
                  <a:ea typeface="Cambria Bold"/>
                  <a:cs typeface="Cambria Bold"/>
                  <a:sym typeface="Cambria Bold"/>
                </a:rPr>
                <a:t>Priority Scheduling + PQ</a:t>
              </a:r>
            </a:p>
          </p:txBody>
        </p:sp>
      </p:grpSp>
      <p:sp>
        <p:nvSpPr>
          <p:cNvPr name="TextBox 25" id="25"/>
          <p:cNvSpPr txBox="true"/>
          <p:nvPr/>
        </p:nvSpPr>
        <p:spPr>
          <a:xfrm rot="0">
            <a:off x="9966960" y="3495675"/>
            <a:ext cx="6880860" cy="3385185"/>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D5E3E6"/>
                </a:solidFill>
                <a:latin typeface="Calibri (MS)"/>
                <a:ea typeface="Calibri (MS)"/>
                <a:cs typeface="Calibri (MS)"/>
                <a:sym typeface="Calibri (MS)"/>
              </a:rPr>
              <a:t>Cocok untuk layanan dengan tingkat urgensi berbeda</a:t>
            </a:r>
          </a:p>
          <a:p>
            <a:pPr algn="l" marL="352901" indent="-176451" lvl="1">
              <a:lnSpc>
                <a:spcPts val="2340"/>
              </a:lnSpc>
              <a:buFont typeface="Arial"/>
              <a:buChar char="•"/>
            </a:pPr>
            <a:r>
              <a:rPr lang="en-US" sz="1950">
                <a:solidFill>
                  <a:srgbClr val="D5E3E6"/>
                </a:solidFill>
                <a:latin typeface="Calibri (MS)"/>
                <a:ea typeface="Calibri (MS)"/>
                <a:cs typeface="Calibri (MS)"/>
                <a:sym typeface="Calibri (MS)"/>
              </a:rPr>
              <a:t>Permintaan penting dapat didahulukan</a:t>
            </a:r>
          </a:p>
          <a:p>
            <a:pPr algn="l" marL="352901" indent="-176451" lvl="1">
              <a:lnSpc>
                <a:spcPts val="2340"/>
              </a:lnSpc>
              <a:buFont typeface="Arial"/>
              <a:buChar char="•"/>
            </a:pPr>
            <a:r>
              <a:rPr lang="en-US" sz="1950">
                <a:solidFill>
                  <a:srgbClr val="D5E3E6"/>
                </a:solidFill>
                <a:latin typeface="Calibri (MS)"/>
                <a:ea typeface="Calibri (MS)"/>
                <a:cs typeface="Calibri (MS)"/>
                <a:sym typeface="Calibri (MS)"/>
              </a:rPr>
              <a:t>Lebih fleksibel untuk kebutuhan berbasis prioritas</a:t>
            </a:r>
          </a:p>
        </p:txBody>
      </p:sp>
      <p:grpSp>
        <p:nvGrpSpPr>
          <p:cNvPr name="Group 26" id="26"/>
          <p:cNvGrpSpPr/>
          <p:nvPr/>
        </p:nvGrpSpPr>
        <p:grpSpPr>
          <a:xfrm rot="0">
            <a:off x="822960" y="7406640"/>
            <a:ext cx="16596360" cy="2263140"/>
            <a:chOff x="0" y="0"/>
            <a:chExt cx="22128480" cy="3017520"/>
          </a:xfrm>
        </p:grpSpPr>
        <p:sp>
          <p:nvSpPr>
            <p:cNvPr name="Freeform 27" id="27"/>
            <p:cNvSpPr/>
            <p:nvPr/>
          </p:nvSpPr>
          <p:spPr>
            <a:xfrm flipH="false" flipV="false" rot="0">
              <a:off x="0" y="0"/>
              <a:ext cx="22128480" cy="3017520"/>
            </a:xfrm>
            <a:custGeom>
              <a:avLst/>
              <a:gdLst/>
              <a:ahLst/>
              <a:cxnLst/>
              <a:rect r="r" b="b" t="t" l="l"/>
              <a:pathLst>
                <a:path h="3017520" w="22128480">
                  <a:moveTo>
                    <a:pt x="0" y="146304"/>
                  </a:moveTo>
                  <a:cubicBezTo>
                    <a:pt x="0" y="65532"/>
                    <a:pt x="65532" y="0"/>
                    <a:pt x="146304" y="0"/>
                  </a:cubicBezTo>
                  <a:lnTo>
                    <a:pt x="21982176" y="0"/>
                  </a:lnTo>
                  <a:cubicBezTo>
                    <a:pt x="22062948" y="0"/>
                    <a:pt x="22128480" y="65532"/>
                    <a:pt x="22128480" y="146304"/>
                  </a:cubicBezTo>
                  <a:lnTo>
                    <a:pt x="22128480" y="2871216"/>
                  </a:lnTo>
                  <a:cubicBezTo>
                    <a:pt x="22128480" y="2951988"/>
                    <a:pt x="22062948" y="3017520"/>
                    <a:pt x="21982176" y="3017520"/>
                  </a:cubicBezTo>
                  <a:lnTo>
                    <a:pt x="146304" y="3017520"/>
                  </a:lnTo>
                  <a:cubicBezTo>
                    <a:pt x="65532" y="3017520"/>
                    <a:pt x="0" y="2951988"/>
                    <a:pt x="0" y="2871216"/>
                  </a:cubicBezTo>
                  <a:close/>
                </a:path>
              </a:pathLst>
            </a:custGeom>
            <a:solidFill>
              <a:srgbClr val="0E7C86"/>
            </a:solidFill>
          </p:spPr>
        </p:sp>
      </p:grpSp>
      <p:grpSp>
        <p:nvGrpSpPr>
          <p:cNvPr name="Group 28" id="28"/>
          <p:cNvGrpSpPr/>
          <p:nvPr/>
        </p:nvGrpSpPr>
        <p:grpSpPr>
          <a:xfrm rot="0">
            <a:off x="1303020" y="7612380"/>
            <a:ext cx="15636240" cy="1851660"/>
            <a:chOff x="0" y="0"/>
            <a:chExt cx="20848320" cy="2468880"/>
          </a:xfrm>
        </p:grpSpPr>
        <p:sp>
          <p:nvSpPr>
            <p:cNvPr name="Freeform 29" id="29"/>
            <p:cNvSpPr/>
            <p:nvPr/>
          </p:nvSpPr>
          <p:spPr>
            <a:xfrm flipH="false" flipV="false" rot="0">
              <a:off x="0" y="0"/>
              <a:ext cx="20848320" cy="2468880"/>
            </a:xfrm>
            <a:custGeom>
              <a:avLst/>
              <a:gdLst/>
              <a:ahLst/>
              <a:cxnLst/>
              <a:rect r="r" b="b" t="t" l="l"/>
              <a:pathLst>
                <a:path h="2468880" w="20848320">
                  <a:moveTo>
                    <a:pt x="0" y="0"/>
                  </a:moveTo>
                  <a:lnTo>
                    <a:pt x="20848320" y="0"/>
                  </a:lnTo>
                  <a:lnTo>
                    <a:pt x="20848320" y="2468880"/>
                  </a:lnTo>
                  <a:lnTo>
                    <a:pt x="0" y="2468880"/>
                  </a:lnTo>
                  <a:close/>
                </a:path>
              </a:pathLst>
            </a:custGeom>
            <a:blipFill>
              <a:blip r:embed="rId3">
                <a:alphaModFix amt="0"/>
              </a:blip>
              <a:stretch>
                <a:fillRect l="0" t="-114540" r="0" b="-114540"/>
              </a:stretch>
            </a:blipFill>
          </p:spPr>
        </p:sp>
        <p:sp>
          <p:nvSpPr>
            <p:cNvPr name="TextBox 30" id="30"/>
            <p:cNvSpPr txBox="true"/>
            <p:nvPr/>
          </p:nvSpPr>
          <p:spPr>
            <a:xfrm>
              <a:off x="0" y="-9525"/>
              <a:ext cx="20848320" cy="2478405"/>
            </a:xfrm>
            <a:prstGeom prst="rect">
              <a:avLst/>
            </a:prstGeom>
          </p:spPr>
          <p:txBody>
            <a:bodyPr anchor="ctr" rtlCol="false" tIns="0" lIns="0" bIns="0" rIns="0"/>
            <a:lstStyle/>
            <a:p>
              <a:pPr algn="ctr">
                <a:lnSpc>
                  <a:spcPts val="2879"/>
                </a:lnSpc>
              </a:pPr>
              <a:r>
                <a:rPr lang="en-US" sz="2400" i="true">
                  <a:solidFill>
                    <a:srgbClr val="FFFFFF"/>
                  </a:solidFill>
                  <a:latin typeface="Cambria Italics"/>
                  <a:ea typeface="Cambria Italics"/>
                  <a:cs typeface="Cambria Italics"/>
                  <a:sym typeface="Cambria Italics"/>
                </a:rPr>
                <a:t>“Tidak ada algoritma yang mutlak terbaik untuk semua kondisi. Pemilihan algoritma harus disesuaikan dengan karakteristik pelayanan akademik.”</a:t>
              </a:r>
            </a:p>
          </p:txBody>
        </p:sp>
      </p:grpSp>
    </p:spTree>
  </p:cSld>
  <p:clrMapOvr>
    <a:masterClrMapping/>
  </p:clrMapOvr>
  <p:transition spd="fast">
    <p:wipe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441680" y="-274320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E7F1F4"/>
            </a:solidFill>
          </p:spPr>
        </p:sp>
      </p:grpSp>
      <p:grpSp>
        <p:nvGrpSpPr>
          <p:cNvPr name="Group 4" id="4"/>
          <p:cNvGrpSpPr/>
          <p:nvPr/>
        </p:nvGrpSpPr>
        <p:grpSpPr>
          <a:xfrm rot="0">
            <a:off x="822960" y="1165860"/>
            <a:ext cx="1028700" cy="1028700"/>
            <a:chOff x="0" y="0"/>
            <a:chExt cx="1371600" cy="1371600"/>
          </a:xfrm>
        </p:grpSpPr>
        <p:sp>
          <p:nvSpPr>
            <p:cNvPr name="Freeform 5" id="5" descr="preencoded.png"/>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3"/>
              <a:stretch>
                <a:fillRect l="0" t="0" r="0" b="0"/>
              </a:stretch>
            </a:blipFill>
          </p:spPr>
        </p:sp>
      </p:grpSp>
      <p:grpSp>
        <p:nvGrpSpPr>
          <p:cNvPr name="Group 6" id="6"/>
          <p:cNvGrpSpPr/>
          <p:nvPr/>
        </p:nvGrpSpPr>
        <p:grpSpPr>
          <a:xfrm rot="0">
            <a:off x="2125980" y="1165860"/>
            <a:ext cx="14401800" cy="1165860"/>
            <a:chOff x="0" y="0"/>
            <a:chExt cx="19202400" cy="1554480"/>
          </a:xfrm>
        </p:grpSpPr>
        <p:sp>
          <p:nvSpPr>
            <p:cNvPr name="Freeform 7" id="7"/>
            <p:cNvSpPr/>
            <p:nvPr/>
          </p:nvSpPr>
          <p:spPr>
            <a:xfrm flipH="false" flipV="false" rot="0">
              <a:off x="0" y="0"/>
              <a:ext cx="19202400" cy="1554480"/>
            </a:xfrm>
            <a:custGeom>
              <a:avLst/>
              <a:gdLst/>
              <a:ahLst/>
              <a:cxnLst/>
              <a:rect r="r" b="b" t="t" l="l"/>
              <a:pathLst>
                <a:path h="1554480" w="19202400">
                  <a:moveTo>
                    <a:pt x="0" y="0"/>
                  </a:moveTo>
                  <a:lnTo>
                    <a:pt x="19202400" y="0"/>
                  </a:lnTo>
                  <a:lnTo>
                    <a:pt x="19202400" y="1554480"/>
                  </a:lnTo>
                  <a:lnTo>
                    <a:pt x="0" y="1554480"/>
                  </a:lnTo>
                  <a:close/>
                </a:path>
              </a:pathLst>
            </a:custGeom>
            <a:blipFill>
              <a:blip r:embed="rId4">
                <a:alphaModFix amt="0"/>
              </a:blip>
              <a:stretch>
                <a:fillRect l="0" t="-190697" r="0" b="-190697"/>
              </a:stretch>
            </a:blipFill>
          </p:spPr>
        </p:sp>
        <p:sp>
          <p:nvSpPr>
            <p:cNvPr name="TextBox 8" id="8"/>
            <p:cNvSpPr txBox="true"/>
            <p:nvPr/>
          </p:nvSpPr>
          <p:spPr>
            <a:xfrm>
              <a:off x="0" y="0"/>
              <a:ext cx="19202400" cy="1554480"/>
            </a:xfrm>
            <a:prstGeom prst="rect">
              <a:avLst/>
            </a:prstGeom>
          </p:spPr>
          <p:txBody>
            <a:bodyPr anchor="ctr" rtlCol="false" tIns="0" lIns="0" bIns="0" rIns="0"/>
            <a:lstStyle/>
            <a:p>
              <a:pPr algn="l">
                <a:lnSpc>
                  <a:spcPts val="4680"/>
                </a:lnSpc>
              </a:pPr>
              <a:r>
                <a:rPr lang="en-US" sz="3900" b="true">
                  <a:solidFill>
                    <a:srgbClr val="1B2A4A"/>
                  </a:solidFill>
                  <a:latin typeface="Cambria Bold"/>
                  <a:ea typeface="Cambria Bold"/>
                  <a:cs typeface="Cambria Bold"/>
                  <a:sym typeface="Cambria Bold"/>
                </a:rPr>
                <a:t>Demonstrasi Sistem Antrean Pelayanan Akademik</a:t>
              </a:r>
            </a:p>
          </p:txBody>
        </p:sp>
      </p:grpSp>
      <p:grpSp>
        <p:nvGrpSpPr>
          <p:cNvPr name="Group 9" id="9"/>
          <p:cNvGrpSpPr/>
          <p:nvPr/>
        </p:nvGrpSpPr>
        <p:grpSpPr>
          <a:xfrm rot="0">
            <a:off x="822960" y="2743200"/>
            <a:ext cx="8023860" cy="1344168"/>
            <a:chOff x="0" y="0"/>
            <a:chExt cx="10698480" cy="1792224"/>
          </a:xfrm>
        </p:grpSpPr>
        <p:sp>
          <p:nvSpPr>
            <p:cNvPr name="Freeform 10" id="10"/>
            <p:cNvSpPr/>
            <p:nvPr/>
          </p:nvSpPr>
          <p:spPr>
            <a:xfrm flipH="false" flipV="false" rot="0">
              <a:off x="0" y="0"/>
              <a:ext cx="10698480" cy="1792224"/>
            </a:xfrm>
            <a:custGeom>
              <a:avLst/>
              <a:gdLst/>
              <a:ahLst/>
              <a:cxnLst/>
              <a:rect r="r" b="b" t="t" l="l"/>
              <a:pathLst>
                <a:path h="1792224" w="10698480">
                  <a:moveTo>
                    <a:pt x="0" y="146304"/>
                  </a:moveTo>
                  <a:cubicBezTo>
                    <a:pt x="0" y="65532"/>
                    <a:pt x="65532" y="0"/>
                    <a:pt x="146304" y="0"/>
                  </a:cubicBezTo>
                  <a:lnTo>
                    <a:pt x="10552176" y="0"/>
                  </a:lnTo>
                  <a:cubicBezTo>
                    <a:pt x="10632948" y="0"/>
                    <a:pt x="10698480" y="65532"/>
                    <a:pt x="10698480" y="146304"/>
                  </a:cubicBezTo>
                  <a:lnTo>
                    <a:pt x="10698480" y="1645920"/>
                  </a:lnTo>
                  <a:cubicBezTo>
                    <a:pt x="10698480" y="1726692"/>
                    <a:pt x="10632948" y="1792224"/>
                    <a:pt x="10552176" y="1792224"/>
                  </a:cubicBezTo>
                  <a:lnTo>
                    <a:pt x="146304" y="1792224"/>
                  </a:lnTo>
                  <a:cubicBezTo>
                    <a:pt x="65532" y="1792224"/>
                    <a:pt x="0" y="1726692"/>
                    <a:pt x="0" y="1645920"/>
                  </a:cubicBezTo>
                  <a:close/>
                </a:path>
              </a:pathLst>
            </a:custGeom>
            <a:solidFill>
              <a:srgbClr val="E7F1F4"/>
            </a:solidFill>
          </p:spPr>
        </p:sp>
      </p:grpSp>
      <p:grpSp>
        <p:nvGrpSpPr>
          <p:cNvPr name="Group 11" id="11"/>
          <p:cNvGrpSpPr/>
          <p:nvPr/>
        </p:nvGrpSpPr>
        <p:grpSpPr>
          <a:xfrm rot="0">
            <a:off x="1124712" y="3031236"/>
            <a:ext cx="768096" cy="768096"/>
            <a:chOff x="0" y="0"/>
            <a:chExt cx="1024128" cy="1024128"/>
          </a:xfrm>
        </p:grpSpPr>
        <p:sp>
          <p:nvSpPr>
            <p:cNvPr name="Freeform 12" id="1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E7C86"/>
            </a:solidFill>
          </p:spPr>
        </p:sp>
      </p:grpSp>
      <p:grpSp>
        <p:nvGrpSpPr>
          <p:cNvPr name="Group 13" id="13"/>
          <p:cNvGrpSpPr/>
          <p:nvPr/>
        </p:nvGrpSpPr>
        <p:grpSpPr>
          <a:xfrm rot="0">
            <a:off x="1124712" y="3031236"/>
            <a:ext cx="768096" cy="768096"/>
            <a:chOff x="0" y="0"/>
            <a:chExt cx="1024128" cy="1024128"/>
          </a:xfrm>
        </p:grpSpPr>
        <p:sp>
          <p:nvSpPr>
            <p:cNvPr name="Freeform 14" id="1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15" id="15"/>
            <p:cNvSpPr txBox="true"/>
            <p:nvPr/>
          </p:nvSpPr>
          <p:spPr>
            <a:xfrm>
              <a:off x="0" y="-57150"/>
              <a:ext cx="1024128" cy="1081278"/>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1</a:t>
              </a:r>
            </a:p>
          </p:txBody>
        </p:sp>
      </p:grpSp>
      <p:grpSp>
        <p:nvGrpSpPr>
          <p:cNvPr name="Group 16" id="16"/>
          <p:cNvGrpSpPr/>
          <p:nvPr/>
        </p:nvGrpSpPr>
        <p:grpSpPr>
          <a:xfrm rot="0">
            <a:off x="2194560" y="2743200"/>
            <a:ext cx="6377940" cy="1344168"/>
            <a:chOff x="0" y="0"/>
            <a:chExt cx="8503920" cy="1792224"/>
          </a:xfrm>
        </p:grpSpPr>
        <p:sp>
          <p:nvSpPr>
            <p:cNvPr name="Freeform 17" id="17"/>
            <p:cNvSpPr/>
            <p:nvPr/>
          </p:nvSpPr>
          <p:spPr>
            <a:xfrm flipH="false" flipV="false" rot="0">
              <a:off x="0" y="0"/>
              <a:ext cx="8503920" cy="1792224"/>
            </a:xfrm>
            <a:custGeom>
              <a:avLst/>
              <a:gdLst/>
              <a:ahLst/>
              <a:cxnLst/>
              <a:rect r="r" b="b" t="t" l="l"/>
              <a:pathLst>
                <a:path h="1792224" w="8503920">
                  <a:moveTo>
                    <a:pt x="0" y="0"/>
                  </a:moveTo>
                  <a:lnTo>
                    <a:pt x="8503920" y="0"/>
                  </a:lnTo>
                  <a:lnTo>
                    <a:pt x="8503920" y="1792224"/>
                  </a:lnTo>
                  <a:lnTo>
                    <a:pt x="0" y="1792224"/>
                  </a:lnTo>
                  <a:close/>
                </a:path>
              </a:pathLst>
            </a:custGeom>
            <a:blipFill>
              <a:blip r:embed="rId4">
                <a:alphaModFix amt="0"/>
              </a:blip>
              <a:stretch>
                <a:fillRect l="0" t="-42454" r="0" b="-42454"/>
              </a:stretch>
            </a:blipFill>
          </p:spPr>
        </p:sp>
        <p:sp>
          <p:nvSpPr>
            <p:cNvPr name="TextBox 18" id="18"/>
            <p:cNvSpPr txBox="true"/>
            <p:nvPr/>
          </p:nvSpPr>
          <p:spPr>
            <a:xfrm>
              <a:off x="0" y="-47625"/>
              <a:ext cx="8503920" cy="1839849"/>
            </a:xfrm>
            <a:prstGeom prst="rect">
              <a:avLst/>
            </a:prstGeom>
          </p:spPr>
          <p:txBody>
            <a:bodyPr anchor="ctr" rtlCol="false" tIns="0" lIns="0" bIns="0" rIns="0"/>
            <a:lstStyle/>
            <a:p>
              <a:pPr algn="l">
                <a:lnSpc>
                  <a:spcPts val="2520"/>
                </a:lnSpc>
              </a:pPr>
              <a:r>
                <a:rPr lang="en-US" sz="2100" b="true">
                  <a:solidFill>
                    <a:srgbClr val="1B2A4A"/>
                  </a:solidFill>
                  <a:latin typeface="Calibri (MS) Bold"/>
                  <a:ea typeface="Calibri (MS) Bold"/>
                  <a:cs typeface="Calibri (MS) Bold"/>
                  <a:sym typeface="Calibri (MS) Bold"/>
                </a:rPr>
                <a:t>Jalankan program</a:t>
              </a:r>
            </a:p>
          </p:txBody>
        </p:sp>
      </p:grpSp>
      <p:grpSp>
        <p:nvGrpSpPr>
          <p:cNvPr name="Group 19" id="19"/>
          <p:cNvGrpSpPr/>
          <p:nvPr/>
        </p:nvGrpSpPr>
        <p:grpSpPr>
          <a:xfrm rot="0">
            <a:off x="9395460" y="2743200"/>
            <a:ext cx="8023860" cy="1344168"/>
            <a:chOff x="0" y="0"/>
            <a:chExt cx="10698480" cy="1792224"/>
          </a:xfrm>
        </p:grpSpPr>
        <p:sp>
          <p:nvSpPr>
            <p:cNvPr name="Freeform 20" id="20"/>
            <p:cNvSpPr/>
            <p:nvPr/>
          </p:nvSpPr>
          <p:spPr>
            <a:xfrm flipH="false" flipV="false" rot="0">
              <a:off x="0" y="0"/>
              <a:ext cx="10698480" cy="1792224"/>
            </a:xfrm>
            <a:custGeom>
              <a:avLst/>
              <a:gdLst/>
              <a:ahLst/>
              <a:cxnLst/>
              <a:rect r="r" b="b" t="t" l="l"/>
              <a:pathLst>
                <a:path h="1792224" w="10698480">
                  <a:moveTo>
                    <a:pt x="0" y="146304"/>
                  </a:moveTo>
                  <a:cubicBezTo>
                    <a:pt x="0" y="65532"/>
                    <a:pt x="65532" y="0"/>
                    <a:pt x="146304" y="0"/>
                  </a:cubicBezTo>
                  <a:lnTo>
                    <a:pt x="10552176" y="0"/>
                  </a:lnTo>
                  <a:cubicBezTo>
                    <a:pt x="10632948" y="0"/>
                    <a:pt x="10698480" y="65532"/>
                    <a:pt x="10698480" y="146304"/>
                  </a:cubicBezTo>
                  <a:lnTo>
                    <a:pt x="10698480" y="1645920"/>
                  </a:lnTo>
                  <a:cubicBezTo>
                    <a:pt x="10698480" y="1726692"/>
                    <a:pt x="10632948" y="1792224"/>
                    <a:pt x="10552176" y="1792224"/>
                  </a:cubicBezTo>
                  <a:lnTo>
                    <a:pt x="146304" y="1792224"/>
                  </a:lnTo>
                  <a:cubicBezTo>
                    <a:pt x="65532" y="1792224"/>
                    <a:pt x="0" y="1726692"/>
                    <a:pt x="0" y="1645920"/>
                  </a:cubicBezTo>
                  <a:close/>
                </a:path>
              </a:pathLst>
            </a:custGeom>
            <a:solidFill>
              <a:srgbClr val="E7F1F4"/>
            </a:solidFill>
          </p:spPr>
        </p:sp>
      </p:grpSp>
      <p:grpSp>
        <p:nvGrpSpPr>
          <p:cNvPr name="Group 21" id="21"/>
          <p:cNvGrpSpPr/>
          <p:nvPr/>
        </p:nvGrpSpPr>
        <p:grpSpPr>
          <a:xfrm rot="0">
            <a:off x="9697212" y="3031236"/>
            <a:ext cx="768096" cy="768096"/>
            <a:chOff x="0" y="0"/>
            <a:chExt cx="1024128" cy="1024128"/>
          </a:xfrm>
        </p:grpSpPr>
        <p:sp>
          <p:nvSpPr>
            <p:cNvPr name="Freeform 22" id="2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E7C86"/>
            </a:solidFill>
          </p:spPr>
        </p:sp>
      </p:grpSp>
      <p:grpSp>
        <p:nvGrpSpPr>
          <p:cNvPr name="Group 23" id="23"/>
          <p:cNvGrpSpPr/>
          <p:nvPr/>
        </p:nvGrpSpPr>
        <p:grpSpPr>
          <a:xfrm rot="0">
            <a:off x="9697212" y="3031236"/>
            <a:ext cx="768096" cy="768096"/>
            <a:chOff x="0" y="0"/>
            <a:chExt cx="1024128" cy="1024128"/>
          </a:xfrm>
        </p:grpSpPr>
        <p:sp>
          <p:nvSpPr>
            <p:cNvPr name="Freeform 24" id="2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25" id="25"/>
            <p:cNvSpPr txBox="true"/>
            <p:nvPr/>
          </p:nvSpPr>
          <p:spPr>
            <a:xfrm>
              <a:off x="0" y="-57150"/>
              <a:ext cx="1024128" cy="1081278"/>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2</a:t>
              </a:r>
            </a:p>
          </p:txBody>
        </p:sp>
      </p:grpSp>
      <p:grpSp>
        <p:nvGrpSpPr>
          <p:cNvPr name="Group 26" id="26"/>
          <p:cNvGrpSpPr/>
          <p:nvPr/>
        </p:nvGrpSpPr>
        <p:grpSpPr>
          <a:xfrm rot="0">
            <a:off x="10767060" y="2743200"/>
            <a:ext cx="6377940" cy="1344168"/>
            <a:chOff x="0" y="0"/>
            <a:chExt cx="8503920" cy="1792224"/>
          </a:xfrm>
        </p:grpSpPr>
        <p:sp>
          <p:nvSpPr>
            <p:cNvPr name="Freeform 27" id="27"/>
            <p:cNvSpPr/>
            <p:nvPr/>
          </p:nvSpPr>
          <p:spPr>
            <a:xfrm flipH="false" flipV="false" rot="0">
              <a:off x="0" y="0"/>
              <a:ext cx="8503920" cy="1792224"/>
            </a:xfrm>
            <a:custGeom>
              <a:avLst/>
              <a:gdLst/>
              <a:ahLst/>
              <a:cxnLst/>
              <a:rect r="r" b="b" t="t" l="l"/>
              <a:pathLst>
                <a:path h="1792224" w="8503920">
                  <a:moveTo>
                    <a:pt x="0" y="0"/>
                  </a:moveTo>
                  <a:lnTo>
                    <a:pt x="8503920" y="0"/>
                  </a:lnTo>
                  <a:lnTo>
                    <a:pt x="8503920" y="1792224"/>
                  </a:lnTo>
                  <a:lnTo>
                    <a:pt x="0" y="1792224"/>
                  </a:lnTo>
                  <a:close/>
                </a:path>
              </a:pathLst>
            </a:custGeom>
            <a:blipFill>
              <a:blip r:embed="rId4">
                <a:alphaModFix amt="0"/>
              </a:blip>
              <a:stretch>
                <a:fillRect l="0" t="-42454" r="0" b="-42454"/>
              </a:stretch>
            </a:blipFill>
          </p:spPr>
        </p:sp>
        <p:sp>
          <p:nvSpPr>
            <p:cNvPr name="TextBox 28" id="28"/>
            <p:cNvSpPr txBox="true"/>
            <p:nvPr/>
          </p:nvSpPr>
          <p:spPr>
            <a:xfrm>
              <a:off x="0" y="-47625"/>
              <a:ext cx="8503920" cy="1839849"/>
            </a:xfrm>
            <a:prstGeom prst="rect">
              <a:avLst/>
            </a:prstGeom>
          </p:spPr>
          <p:txBody>
            <a:bodyPr anchor="ctr" rtlCol="false" tIns="0" lIns="0" bIns="0" rIns="0"/>
            <a:lstStyle/>
            <a:p>
              <a:pPr algn="l">
                <a:lnSpc>
                  <a:spcPts val="2520"/>
                </a:lnSpc>
              </a:pPr>
              <a:r>
                <a:rPr lang="en-US" sz="2100" b="true">
                  <a:solidFill>
                    <a:srgbClr val="1B2A4A"/>
                  </a:solidFill>
                  <a:latin typeface="Calibri (MS) Bold"/>
                  <a:ea typeface="Calibri (MS) Bold"/>
                  <a:cs typeface="Calibri (MS) Bold"/>
                  <a:sym typeface="Calibri (MS) Bold"/>
                </a:rPr>
                <a:t>Tampilkan menu utama</a:t>
              </a:r>
            </a:p>
          </p:txBody>
        </p:sp>
      </p:grpSp>
      <p:grpSp>
        <p:nvGrpSpPr>
          <p:cNvPr name="Group 29" id="29"/>
          <p:cNvGrpSpPr/>
          <p:nvPr/>
        </p:nvGrpSpPr>
        <p:grpSpPr>
          <a:xfrm rot="0">
            <a:off x="822960" y="4471416"/>
            <a:ext cx="8023860" cy="1344168"/>
            <a:chOff x="0" y="0"/>
            <a:chExt cx="10698480" cy="1792224"/>
          </a:xfrm>
        </p:grpSpPr>
        <p:sp>
          <p:nvSpPr>
            <p:cNvPr name="Freeform 30" id="30"/>
            <p:cNvSpPr/>
            <p:nvPr/>
          </p:nvSpPr>
          <p:spPr>
            <a:xfrm flipH="false" flipV="false" rot="0">
              <a:off x="0" y="0"/>
              <a:ext cx="10698480" cy="1792224"/>
            </a:xfrm>
            <a:custGeom>
              <a:avLst/>
              <a:gdLst/>
              <a:ahLst/>
              <a:cxnLst/>
              <a:rect r="r" b="b" t="t" l="l"/>
              <a:pathLst>
                <a:path h="1792224" w="10698480">
                  <a:moveTo>
                    <a:pt x="0" y="146304"/>
                  </a:moveTo>
                  <a:cubicBezTo>
                    <a:pt x="0" y="65532"/>
                    <a:pt x="65532" y="0"/>
                    <a:pt x="146304" y="0"/>
                  </a:cubicBezTo>
                  <a:lnTo>
                    <a:pt x="10552176" y="0"/>
                  </a:lnTo>
                  <a:cubicBezTo>
                    <a:pt x="10632948" y="0"/>
                    <a:pt x="10698480" y="65532"/>
                    <a:pt x="10698480" y="146304"/>
                  </a:cubicBezTo>
                  <a:lnTo>
                    <a:pt x="10698480" y="1645920"/>
                  </a:lnTo>
                  <a:cubicBezTo>
                    <a:pt x="10698480" y="1726692"/>
                    <a:pt x="10632948" y="1792224"/>
                    <a:pt x="10552176" y="1792224"/>
                  </a:cubicBezTo>
                  <a:lnTo>
                    <a:pt x="146304" y="1792224"/>
                  </a:lnTo>
                  <a:cubicBezTo>
                    <a:pt x="65532" y="1792224"/>
                    <a:pt x="0" y="1726692"/>
                    <a:pt x="0" y="1645920"/>
                  </a:cubicBezTo>
                  <a:close/>
                </a:path>
              </a:pathLst>
            </a:custGeom>
            <a:solidFill>
              <a:srgbClr val="E7F1F4"/>
            </a:solidFill>
          </p:spPr>
        </p:sp>
      </p:grpSp>
      <p:grpSp>
        <p:nvGrpSpPr>
          <p:cNvPr name="Group 31" id="31"/>
          <p:cNvGrpSpPr/>
          <p:nvPr/>
        </p:nvGrpSpPr>
        <p:grpSpPr>
          <a:xfrm rot="0">
            <a:off x="1124712" y="4759452"/>
            <a:ext cx="768096" cy="768096"/>
            <a:chOff x="0" y="0"/>
            <a:chExt cx="1024128" cy="1024128"/>
          </a:xfrm>
        </p:grpSpPr>
        <p:sp>
          <p:nvSpPr>
            <p:cNvPr name="Freeform 32" id="3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E7C86"/>
            </a:solidFill>
          </p:spPr>
        </p:sp>
      </p:grpSp>
      <p:grpSp>
        <p:nvGrpSpPr>
          <p:cNvPr name="Group 33" id="33"/>
          <p:cNvGrpSpPr/>
          <p:nvPr/>
        </p:nvGrpSpPr>
        <p:grpSpPr>
          <a:xfrm rot="0">
            <a:off x="1124712" y="4759452"/>
            <a:ext cx="768096" cy="768096"/>
            <a:chOff x="0" y="0"/>
            <a:chExt cx="1024128" cy="1024128"/>
          </a:xfrm>
        </p:grpSpPr>
        <p:sp>
          <p:nvSpPr>
            <p:cNvPr name="Freeform 34" id="3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35" id="35"/>
            <p:cNvSpPr txBox="true"/>
            <p:nvPr/>
          </p:nvSpPr>
          <p:spPr>
            <a:xfrm>
              <a:off x="0" y="-57150"/>
              <a:ext cx="1024128" cy="1081278"/>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3</a:t>
              </a:r>
            </a:p>
          </p:txBody>
        </p:sp>
      </p:grpSp>
      <p:grpSp>
        <p:nvGrpSpPr>
          <p:cNvPr name="Group 36" id="36"/>
          <p:cNvGrpSpPr/>
          <p:nvPr/>
        </p:nvGrpSpPr>
        <p:grpSpPr>
          <a:xfrm rot="0">
            <a:off x="2194560" y="4471416"/>
            <a:ext cx="6377940" cy="1344168"/>
            <a:chOff x="0" y="0"/>
            <a:chExt cx="8503920" cy="1792224"/>
          </a:xfrm>
        </p:grpSpPr>
        <p:sp>
          <p:nvSpPr>
            <p:cNvPr name="Freeform 37" id="37"/>
            <p:cNvSpPr/>
            <p:nvPr/>
          </p:nvSpPr>
          <p:spPr>
            <a:xfrm flipH="false" flipV="false" rot="0">
              <a:off x="0" y="0"/>
              <a:ext cx="8503920" cy="1792224"/>
            </a:xfrm>
            <a:custGeom>
              <a:avLst/>
              <a:gdLst/>
              <a:ahLst/>
              <a:cxnLst/>
              <a:rect r="r" b="b" t="t" l="l"/>
              <a:pathLst>
                <a:path h="1792224" w="8503920">
                  <a:moveTo>
                    <a:pt x="0" y="0"/>
                  </a:moveTo>
                  <a:lnTo>
                    <a:pt x="8503920" y="0"/>
                  </a:lnTo>
                  <a:lnTo>
                    <a:pt x="8503920" y="1792224"/>
                  </a:lnTo>
                  <a:lnTo>
                    <a:pt x="0" y="1792224"/>
                  </a:lnTo>
                  <a:close/>
                </a:path>
              </a:pathLst>
            </a:custGeom>
            <a:blipFill>
              <a:blip r:embed="rId4">
                <a:alphaModFix amt="0"/>
              </a:blip>
              <a:stretch>
                <a:fillRect l="0" t="-42454" r="0" b="-42454"/>
              </a:stretch>
            </a:blipFill>
          </p:spPr>
        </p:sp>
        <p:sp>
          <p:nvSpPr>
            <p:cNvPr name="TextBox 38" id="38"/>
            <p:cNvSpPr txBox="true"/>
            <p:nvPr/>
          </p:nvSpPr>
          <p:spPr>
            <a:xfrm>
              <a:off x="0" y="-47625"/>
              <a:ext cx="8503920" cy="1839849"/>
            </a:xfrm>
            <a:prstGeom prst="rect">
              <a:avLst/>
            </a:prstGeom>
          </p:spPr>
          <p:txBody>
            <a:bodyPr anchor="ctr" rtlCol="false" tIns="0" lIns="0" bIns="0" rIns="0"/>
            <a:lstStyle/>
            <a:p>
              <a:pPr algn="l">
                <a:lnSpc>
                  <a:spcPts val="2520"/>
                </a:lnSpc>
              </a:pPr>
              <a:r>
                <a:rPr lang="en-US" sz="2100" b="true">
                  <a:solidFill>
                    <a:srgbClr val="1B2A4A"/>
                  </a:solidFill>
                  <a:latin typeface="Calibri (MS) Bold"/>
                  <a:ea typeface="Calibri (MS) Bold"/>
                  <a:cs typeface="Calibri (MS) Bold"/>
                  <a:sym typeface="Calibri (MS) Bold"/>
                </a:rPr>
                <a:t>Pilih atau muat dataset</a:t>
              </a:r>
            </a:p>
          </p:txBody>
        </p:sp>
      </p:grpSp>
      <p:grpSp>
        <p:nvGrpSpPr>
          <p:cNvPr name="Group 39" id="39"/>
          <p:cNvGrpSpPr/>
          <p:nvPr/>
        </p:nvGrpSpPr>
        <p:grpSpPr>
          <a:xfrm rot="0">
            <a:off x="9395460" y="4471416"/>
            <a:ext cx="8023860" cy="1344168"/>
            <a:chOff x="0" y="0"/>
            <a:chExt cx="10698480" cy="1792224"/>
          </a:xfrm>
        </p:grpSpPr>
        <p:sp>
          <p:nvSpPr>
            <p:cNvPr name="Freeform 40" id="40"/>
            <p:cNvSpPr/>
            <p:nvPr/>
          </p:nvSpPr>
          <p:spPr>
            <a:xfrm flipH="false" flipV="false" rot="0">
              <a:off x="0" y="0"/>
              <a:ext cx="10698480" cy="1792224"/>
            </a:xfrm>
            <a:custGeom>
              <a:avLst/>
              <a:gdLst/>
              <a:ahLst/>
              <a:cxnLst/>
              <a:rect r="r" b="b" t="t" l="l"/>
              <a:pathLst>
                <a:path h="1792224" w="10698480">
                  <a:moveTo>
                    <a:pt x="0" y="146304"/>
                  </a:moveTo>
                  <a:cubicBezTo>
                    <a:pt x="0" y="65532"/>
                    <a:pt x="65532" y="0"/>
                    <a:pt x="146304" y="0"/>
                  </a:cubicBezTo>
                  <a:lnTo>
                    <a:pt x="10552176" y="0"/>
                  </a:lnTo>
                  <a:cubicBezTo>
                    <a:pt x="10632948" y="0"/>
                    <a:pt x="10698480" y="65532"/>
                    <a:pt x="10698480" y="146304"/>
                  </a:cubicBezTo>
                  <a:lnTo>
                    <a:pt x="10698480" y="1645920"/>
                  </a:lnTo>
                  <a:cubicBezTo>
                    <a:pt x="10698480" y="1726692"/>
                    <a:pt x="10632948" y="1792224"/>
                    <a:pt x="10552176" y="1792224"/>
                  </a:cubicBezTo>
                  <a:lnTo>
                    <a:pt x="146304" y="1792224"/>
                  </a:lnTo>
                  <a:cubicBezTo>
                    <a:pt x="65532" y="1792224"/>
                    <a:pt x="0" y="1726692"/>
                    <a:pt x="0" y="1645920"/>
                  </a:cubicBezTo>
                  <a:close/>
                </a:path>
              </a:pathLst>
            </a:custGeom>
            <a:solidFill>
              <a:srgbClr val="E7F1F4"/>
            </a:solidFill>
          </p:spPr>
        </p:sp>
      </p:grpSp>
      <p:grpSp>
        <p:nvGrpSpPr>
          <p:cNvPr name="Group 41" id="41"/>
          <p:cNvGrpSpPr/>
          <p:nvPr/>
        </p:nvGrpSpPr>
        <p:grpSpPr>
          <a:xfrm rot="0">
            <a:off x="9697212" y="4759452"/>
            <a:ext cx="768096" cy="768096"/>
            <a:chOff x="0" y="0"/>
            <a:chExt cx="1024128" cy="1024128"/>
          </a:xfrm>
        </p:grpSpPr>
        <p:sp>
          <p:nvSpPr>
            <p:cNvPr name="Freeform 42" id="4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E7C86"/>
            </a:solidFill>
          </p:spPr>
        </p:sp>
      </p:grpSp>
      <p:grpSp>
        <p:nvGrpSpPr>
          <p:cNvPr name="Group 43" id="43"/>
          <p:cNvGrpSpPr/>
          <p:nvPr/>
        </p:nvGrpSpPr>
        <p:grpSpPr>
          <a:xfrm rot="0">
            <a:off x="9697212" y="4759452"/>
            <a:ext cx="768096" cy="768096"/>
            <a:chOff x="0" y="0"/>
            <a:chExt cx="1024128" cy="1024128"/>
          </a:xfrm>
        </p:grpSpPr>
        <p:sp>
          <p:nvSpPr>
            <p:cNvPr name="Freeform 44" id="4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45" id="45"/>
            <p:cNvSpPr txBox="true"/>
            <p:nvPr/>
          </p:nvSpPr>
          <p:spPr>
            <a:xfrm>
              <a:off x="0" y="-57150"/>
              <a:ext cx="1024128" cy="1081278"/>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4</a:t>
              </a:r>
            </a:p>
          </p:txBody>
        </p:sp>
      </p:grpSp>
      <p:grpSp>
        <p:nvGrpSpPr>
          <p:cNvPr name="Group 46" id="46"/>
          <p:cNvGrpSpPr/>
          <p:nvPr/>
        </p:nvGrpSpPr>
        <p:grpSpPr>
          <a:xfrm rot="0">
            <a:off x="10767060" y="4471416"/>
            <a:ext cx="6377940" cy="1344168"/>
            <a:chOff x="0" y="0"/>
            <a:chExt cx="8503920" cy="1792224"/>
          </a:xfrm>
        </p:grpSpPr>
        <p:sp>
          <p:nvSpPr>
            <p:cNvPr name="Freeform 47" id="47"/>
            <p:cNvSpPr/>
            <p:nvPr/>
          </p:nvSpPr>
          <p:spPr>
            <a:xfrm flipH="false" flipV="false" rot="0">
              <a:off x="0" y="0"/>
              <a:ext cx="8503920" cy="1792224"/>
            </a:xfrm>
            <a:custGeom>
              <a:avLst/>
              <a:gdLst/>
              <a:ahLst/>
              <a:cxnLst/>
              <a:rect r="r" b="b" t="t" l="l"/>
              <a:pathLst>
                <a:path h="1792224" w="8503920">
                  <a:moveTo>
                    <a:pt x="0" y="0"/>
                  </a:moveTo>
                  <a:lnTo>
                    <a:pt x="8503920" y="0"/>
                  </a:lnTo>
                  <a:lnTo>
                    <a:pt x="8503920" y="1792224"/>
                  </a:lnTo>
                  <a:lnTo>
                    <a:pt x="0" y="1792224"/>
                  </a:lnTo>
                  <a:close/>
                </a:path>
              </a:pathLst>
            </a:custGeom>
            <a:blipFill>
              <a:blip r:embed="rId4">
                <a:alphaModFix amt="0"/>
              </a:blip>
              <a:stretch>
                <a:fillRect l="0" t="-42454" r="0" b="-42454"/>
              </a:stretch>
            </a:blipFill>
          </p:spPr>
        </p:sp>
        <p:sp>
          <p:nvSpPr>
            <p:cNvPr name="TextBox 48" id="48"/>
            <p:cNvSpPr txBox="true"/>
            <p:nvPr/>
          </p:nvSpPr>
          <p:spPr>
            <a:xfrm>
              <a:off x="0" y="-47625"/>
              <a:ext cx="8503920" cy="1839849"/>
            </a:xfrm>
            <a:prstGeom prst="rect">
              <a:avLst/>
            </a:prstGeom>
          </p:spPr>
          <p:txBody>
            <a:bodyPr anchor="ctr" rtlCol="false" tIns="0" lIns="0" bIns="0" rIns="0"/>
            <a:lstStyle/>
            <a:p>
              <a:pPr algn="l">
                <a:lnSpc>
                  <a:spcPts val="2520"/>
                </a:lnSpc>
              </a:pPr>
              <a:r>
                <a:rPr lang="en-US" sz="2100" b="true">
                  <a:solidFill>
                    <a:srgbClr val="1B2A4A"/>
                  </a:solidFill>
                  <a:latin typeface="Calibri (MS) Bold"/>
                  <a:ea typeface="Calibri (MS) Bold"/>
                  <a:cs typeface="Calibri (MS) Bold"/>
                  <a:sym typeface="Calibri (MS) Bold"/>
                </a:rPr>
                <a:t>Jalankan FCFS</a:t>
              </a:r>
            </a:p>
          </p:txBody>
        </p:sp>
      </p:grpSp>
      <p:grpSp>
        <p:nvGrpSpPr>
          <p:cNvPr name="Group 49" id="49"/>
          <p:cNvGrpSpPr/>
          <p:nvPr/>
        </p:nvGrpSpPr>
        <p:grpSpPr>
          <a:xfrm rot="0">
            <a:off x="822960" y="6199632"/>
            <a:ext cx="8023860" cy="1344168"/>
            <a:chOff x="0" y="0"/>
            <a:chExt cx="10698480" cy="1792224"/>
          </a:xfrm>
        </p:grpSpPr>
        <p:sp>
          <p:nvSpPr>
            <p:cNvPr name="Freeform 50" id="50"/>
            <p:cNvSpPr/>
            <p:nvPr/>
          </p:nvSpPr>
          <p:spPr>
            <a:xfrm flipH="false" flipV="false" rot="0">
              <a:off x="0" y="0"/>
              <a:ext cx="10698480" cy="1792224"/>
            </a:xfrm>
            <a:custGeom>
              <a:avLst/>
              <a:gdLst/>
              <a:ahLst/>
              <a:cxnLst/>
              <a:rect r="r" b="b" t="t" l="l"/>
              <a:pathLst>
                <a:path h="1792224" w="10698480">
                  <a:moveTo>
                    <a:pt x="0" y="146304"/>
                  </a:moveTo>
                  <a:cubicBezTo>
                    <a:pt x="0" y="65532"/>
                    <a:pt x="65532" y="0"/>
                    <a:pt x="146304" y="0"/>
                  </a:cubicBezTo>
                  <a:lnTo>
                    <a:pt x="10552176" y="0"/>
                  </a:lnTo>
                  <a:cubicBezTo>
                    <a:pt x="10632948" y="0"/>
                    <a:pt x="10698480" y="65532"/>
                    <a:pt x="10698480" y="146304"/>
                  </a:cubicBezTo>
                  <a:lnTo>
                    <a:pt x="10698480" y="1645920"/>
                  </a:lnTo>
                  <a:cubicBezTo>
                    <a:pt x="10698480" y="1726692"/>
                    <a:pt x="10632948" y="1792224"/>
                    <a:pt x="10552176" y="1792224"/>
                  </a:cubicBezTo>
                  <a:lnTo>
                    <a:pt x="146304" y="1792224"/>
                  </a:lnTo>
                  <a:cubicBezTo>
                    <a:pt x="65532" y="1792224"/>
                    <a:pt x="0" y="1726692"/>
                    <a:pt x="0" y="1645920"/>
                  </a:cubicBezTo>
                  <a:close/>
                </a:path>
              </a:pathLst>
            </a:custGeom>
            <a:solidFill>
              <a:srgbClr val="E7F1F4"/>
            </a:solidFill>
          </p:spPr>
        </p:sp>
      </p:grpSp>
      <p:grpSp>
        <p:nvGrpSpPr>
          <p:cNvPr name="Group 51" id="51"/>
          <p:cNvGrpSpPr/>
          <p:nvPr/>
        </p:nvGrpSpPr>
        <p:grpSpPr>
          <a:xfrm rot="0">
            <a:off x="1124712" y="6487668"/>
            <a:ext cx="768096" cy="768096"/>
            <a:chOff x="0" y="0"/>
            <a:chExt cx="1024128" cy="1024128"/>
          </a:xfrm>
        </p:grpSpPr>
        <p:sp>
          <p:nvSpPr>
            <p:cNvPr name="Freeform 52" id="5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E7C86"/>
            </a:solidFill>
          </p:spPr>
        </p:sp>
      </p:grpSp>
      <p:grpSp>
        <p:nvGrpSpPr>
          <p:cNvPr name="Group 53" id="53"/>
          <p:cNvGrpSpPr/>
          <p:nvPr/>
        </p:nvGrpSpPr>
        <p:grpSpPr>
          <a:xfrm rot="0">
            <a:off x="1124712" y="6487668"/>
            <a:ext cx="768096" cy="768096"/>
            <a:chOff x="0" y="0"/>
            <a:chExt cx="1024128" cy="1024128"/>
          </a:xfrm>
        </p:grpSpPr>
        <p:sp>
          <p:nvSpPr>
            <p:cNvPr name="Freeform 54" id="5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55" id="55"/>
            <p:cNvSpPr txBox="true"/>
            <p:nvPr/>
          </p:nvSpPr>
          <p:spPr>
            <a:xfrm>
              <a:off x="0" y="-57150"/>
              <a:ext cx="1024128" cy="1081278"/>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5</a:t>
              </a:r>
            </a:p>
          </p:txBody>
        </p:sp>
      </p:grpSp>
      <p:grpSp>
        <p:nvGrpSpPr>
          <p:cNvPr name="Group 56" id="56"/>
          <p:cNvGrpSpPr/>
          <p:nvPr/>
        </p:nvGrpSpPr>
        <p:grpSpPr>
          <a:xfrm rot="0">
            <a:off x="2194560" y="6199632"/>
            <a:ext cx="6377940" cy="1344168"/>
            <a:chOff x="0" y="0"/>
            <a:chExt cx="8503920" cy="1792224"/>
          </a:xfrm>
        </p:grpSpPr>
        <p:sp>
          <p:nvSpPr>
            <p:cNvPr name="Freeform 57" id="57"/>
            <p:cNvSpPr/>
            <p:nvPr/>
          </p:nvSpPr>
          <p:spPr>
            <a:xfrm flipH="false" flipV="false" rot="0">
              <a:off x="0" y="0"/>
              <a:ext cx="8503920" cy="1792224"/>
            </a:xfrm>
            <a:custGeom>
              <a:avLst/>
              <a:gdLst/>
              <a:ahLst/>
              <a:cxnLst/>
              <a:rect r="r" b="b" t="t" l="l"/>
              <a:pathLst>
                <a:path h="1792224" w="8503920">
                  <a:moveTo>
                    <a:pt x="0" y="0"/>
                  </a:moveTo>
                  <a:lnTo>
                    <a:pt x="8503920" y="0"/>
                  </a:lnTo>
                  <a:lnTo>
                    <a:pt x="8503920" y="1792224"/>
                  </a:lnTo>
                  <a:lnTo>
                    <a:pt x="0" y="1792224"/>
                  </a:lnTo>
                  <a:close/>
                </a:path>
              </a:pathLst>
            </a:custGeom>
            <a:blipFill>
              <a:blip r:embed="rId4">
                <a:alphaModFix amt="0"/>
              </a:blip>
              <a:stretch>
                <a:fillRect l="0" t="-42454" r="0" b="-42454"/>
              </a:stretch>
            </a:blipFill>
          </p:spPr>
        </p:sp>
        <p:sp>
          <p:nvSpPr>
            <p:cNvPr name="TextBox 58" id="58"/>
            <p:cNvSpPr txBox="true"/>
            <p:nvPr/>
          </p:nvSpPr>
          <p:spPr>
            <a:xfrm>
              <a:off x="0" y="-47625"/>
              <a:ext cx="8503920" cy="1839849"/>
            </a:xfrm>
            <a:prstGeom prst="rect">
              <a:avLst/>
            </a:prstGeom>
          </p:spPr>
          <p:txBody>
            <a:bodyPr anchor="ctr" rtlCol="false" tIns="0" lIns="0" bIns="0" rIns="0"/>
            <a:lstStyle/>
            <a:p>
              <a:pPr algn="l">
                <a:lnSpc>
                  <a:spcPts val="2520"/>
                </a:lnSpc>
              </a:pPr>
              <a:r>
                <a:rPr lang="en-US" sz="2100" b="true">
                  <a:solidFill>
                    <a:srgbClr val="1B2A4A"/>
                  </a:solidFill>
                  <a:latin typeface="Calibri (MS) Bold"/>
                  <a:ea typeface="Calibri (MS) Bold"/>
                  <a:cs typeface="Calibri (MS) Bold"/>
                  <a:sym typeface="Calibri (MS) Bold"/>
                </a:rPr>
                <a:t>Jalankan Priority Scheduling</a:t>
              </a:r>
            </a:p>
          </p:txBody>
        </p:sp>
      </p:grpSp>
      <p:grpSp>
        <p:nvGrpSpPr>
          <p:cNvPr name="Group 59" id="59"/>
          <p:cNvGrpSpPr/>
          <p:nvPr/>
        </p:nvGrpSpPr>
        <p:grpSpPr>
          <a:xfrm rot="0">
            <a:off x="9395460" y="6199632"/>
            <a:ext cx="8023860" cy="1344168"/>
            <a:chOff x="0" y="0"/>
            <a:chExt cx="10698480" cy="1792224"/>
          </a:xfrm>
        </p:grpSpPr>
        <p:sp>
          <p:nvSpPr>
            <p:cNvPr name="Freeform 60" id="60"/>
            <p:cNvSpPr/>
            <p:nvPr/>
          </p:nvSpPr>
          <p:spPr>
            <a:xfrm flipH="false" flipV="false" rot="0">
              <a:off x="0" y="0"/>
              <a:ext cx="10698480" cy="1792224"/>
            </a:xfrm>
            <a:custGeom>
              <a:avLst/>
              <a:gdLst/>
              <a:ahLst/>
              <a:cxnLst/>
              <a:rect r="r" b="b" t="t" l="l"/>
              <a:pathLst>
                <a:path h="1792224" w="10698480">
                  <a:moveTo>
                    <a:pt x="0" y="146304"/>
                  </a:moveTo>
                  <a:cubicBezTo>
                    <a:pt x="0" y="65532"/>
                    <a:pt x="65532" y="0"/>
                    <a:pt x="146304" y="0"/>
                  </a:cubicBezTo>
                  <a:lnTo>
                    <a:pt x="10552176" y="0"/>
                  </a:lnTo>
                  <a:cubicBezTo>
                    <a:pt x="10632948" y="0"/>
                    <a:pt x="10698480" y="65532"/>
                    <a:pt x="10698480" y="146304"/>
                  </a:cubicBezTo>
                  <a:lnTo>
                    <a:pt x="10698480" y="1645920"/>
                  </a:lnTo>
                  <a:cubicBezTo>
                    <a:pt x="10698480" y="1726692"/>
                    <a:pt x="10632948" y="1792224"/>
                    <a:pt x="10552176" y="1792224"/>
                  </a:cubicBezTo>
                  <a:lnTo>
                    <a:pt x="146304" y="1792224"/>
                  </a:lnTo>
                  <a:cubicBezTo>
                    <a:pt x="65532" y="1792224"/>
                    <a:pt x="0" y="1726692"/>
                    <a:pt x="0" y="1645920"/>
                  </a:cubicBezTo>
                  <a:close/>
                </a:path>
              </a:pathLst>
            </a:custGeom>
            <a:solidFill>
              <a:srgbClr val="E7F1F4"/>
            </a:solidFill>
          </p:spPr>
        </p:sp>
      </p:grpSp>
      <p:grpSp>
        <p:nvGrpSpPr>
          <p:cNvPr name="Group 61" id="61"/>
          <p:cNvGrpSpPr/>
          <p:nvPr/>
        </p:nvGrpSpPr>
        <p:grpSpPr>
          <a:xfrm rot="0">
            <a:off x="9697212" y="6487668"/>
            <a:ext cx="768096" cy="768096"/>
            <a:chOff x="0" y="0"/>
            <a:chExt cx="1024128" cy="1024128"/>
          </a:xfrm>
        </p:grpSpPr>
        <p:sp>
          <p:nvSpPr>
            <p:cNvPr name="Freeform 62" id="6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E7C86"/>
            </a:solidFill>
          </p:spPr>
        </p:sp>
      </p:grpSp>
      <p:grpSp>
        <p:nvGrpSpPr>
          <p:cNvPr name="Group 63" id="63"/>
          <p:cNvGrpSpPr/>
          <p:nvPr/>
        </p:nvGrpSpPr>
        <p:grpSpPr>
          <a:xfrm rot="0">
            <a:off x="9697212" y="6487668"/>
            <a:ext cx="768096" cy="768096"/>
            <a:chOff x="0" y="0"/>
            <a:chExt cx="1024128" cy="1024128"/>
          </a:xfrm>
        </p:grpSpPr>
        <p:sp>
          <p:nvSpPr>
            <p:cNvPr name="Freeform 64" id="6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65" id="65"/>
            <p:cNvSpPr txBox="true"/>
            <p:nvPr/>
          </p:nvSpPr>
          <p:spPr>
            <a:xfrm>
              <a:off x="0" y="-57150"/>
              <a:ext cx="1024128" cy="1081278"/>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6</a:t>
              </a:r>
            </a:p>
          </p:txBody>
        </p:sp>
      </p:grpSp>
      <p:grpSp>
        <p:nvGrpSpPr>
          <p:cNvPr name="Group 66" id="66"/>
          <p:cNvGrpSpPr/>
          <p:nvPr/>
        </p:nvGrpSpPr>
        <p:grpSpPr>
          <a:xfrm rot="0">
            <a:off x="10767060" y="6199632"/>
            <a:ext cx="6377940" cy="1344168"/>
            <a:chOff x="0" y="0"/>
            <a:chExt cx="8503920" cy="1792224"/>
          </a:xfrm>
        </p:grpSpPr>
        <p:sp>
          <p:nvSpPr>
            <p:cNvPr name="Freeform 67" id="67"/>
            <p:cNvSpPr/>
            <p:nvPr/>
          </p:nvSpPr>
          <p:spPr>
            <a:xfrm flipH="false" flipV="false" rot="0">
              <a:off x="0" y="0"/>
              <a:ext cx="8503920" cy="1792224"/>
            </a:xfrm>
            <a:custGeom>
              <a:avLst/>
              <a:gdLst/>
              <a:ahLst/>
              <a:cxnLst/>
              <a:rect r="r" b="b" t="t" l="l"/>
              <a:pathLst>
                <a:path h="1792224" w="8503920">
                  <a:moveTo>
                    <a:pt x="0" y="0"/>
                  </a:moveTo>
                  <a:lnTo>
                    <a:pt x="8503920" y="0"/>
                  </a:lnTo>
                  <a:lnTo>
                    <a:pt x="8503920" y="1792224"/>
                  </a:lnTo>
                  <a:lnTo>
                    <a:pt x="0" y="1792224"/>
                  </a:lnTo>
                  <a:close/>
                </a:path>
              </a:pathLst>
            </a:custGeom>
            <a:blipFill>
              <a:blip r:embed="rId4">
                <a:alphaModFix amt="0"/>
              </a:blip>
              <a:stretch>
                <a:fillRect l="0" t="-42454" r="0" b="-42454"/>
              </a:stretch>
            </a:blipFill>
          </p:spPr>
        </p:sp>
        <p:sp>
          <p:nvSpPr>
            <p:cNvPr name="TextBox 68" id="68"/>
            <p:cNvSpPr txBox="true"/>
            <p:nvPr/>
          </p:nvSpPr>
          <p:spPr>
            <a:xfrm>
              <a:off x="0" y="-47625"/>
              <a:ext cx="8503920" cy="1839849"/>
            </a:xfrm>
            <a:prstGeom prst="rect">
              <a:avLst/>
            </a:prstGeom>
          </p:spPr>
          <p:txBody>
            <a:bodyPr anchor="ctr" rtlCol="false" tIns="0" lIns="0" bIns="0" rIns="0"/>
            <a:lstStyle/>
            <a:p>
              <a:pPr algn="l">
                <a:lnSpc>
                  <a:spcPts val="2520"/>
                </a:lnSpc>
              </a:pPr>
              <a:r>
                <a:rPr lang="en-US" sz="2100" b="true">
                  <a:solidFill>
                    <a:srgbClr val="1B2A4A"/>
                  </a:solidFill>
                  <a:latin typeface="Calibri (MS) Bold"/>
                  <a:ea typeface="Calibri (MS) Bold"/>
                  <a:cs typeface="Calibri (MS) Bold"/>
                  <a:sym typeface="Calibri (MS) Bold"/>
                </a:rPr>
                <a:t>Buka menu Bandingkan &amp; Rekomendasi</a:t>
              </a:r>
            </a:p>
          </p:txBody>
        </p:sp>
      </p:grpSp>
      <p:grpSp>
        <p:nvGrpSpPr>
          <p:cNvPr name="Group 69" id="69"/>
          <p:cNvGrpSpPr/>
          <p:nvPr/>
        </p:nvGrpSpPr>
        <p:grpSpPr>
          <a:xfrm rot="0">
            <a:off x="822960" y="7927848"/>
            <a:ext cx="8023860" cy="1344168"/>
            <a:chOff x="0" y="0"/>
            <a:chExt cx="10698480" cy="1792224"/>
          </a:xfrm>
        </p:grpSpPr>
        <p:sp>
          <p:nvSpPr>
            <p:cNvPr name="Freeform 70" id="70"/>
            <p:cNvSpPr/>
            <p:nvPr/>
          </p:nvSpPr>
          <p:spPr>
            <a:xfrm flipH="false" flipV="false" rot="0">
              <a:off x="0" y="0"/>
              <a:ext cx="10698480" cy="1792224"/>
            </a:xfrm>
            <a:custGeom>
              <a:avLst/>
              <a:gdLst/>
              <a:ahLst/>
              <a:cxnLst/>
              <a:rect r="r" b="b" t="t" l="l"/>
              <a:pathLst>
                <a:path h="1792224" w="10698480">
                  <a:moveTo>
                    <a:pt x="0" y="146304"/>
                  </a:moveTo>
                  <a:cubicBezTo>
                    <a:pt x="0" y="65532"/>
                    <a:pt x="65532" y="0"/>
                    <a:pt x="146304" y="0"/>
                  </a:cubicBezTo>
                  <a:lnTo>
                    <a:pt x="10552176" y="0"/>
                  </a:lnTo>
                  <a:cubicBezTo>
                    <a:pt x="10632948" y="0"/>
                    <a:pt x="10698480" y="65532"/>
                    <a:pt x="10698480" y="146304"/>
                  </a:cubicBezTo>
                  <a:lnTo>
                    <a:pt x="10698480" y="1645920"/>
                  </a:lnTo>
                  <a:cubicBezTo>
                    <a:pt x="10698480" y="1726692"/>
                    <a:pt x="10632948" y="1792224"/>
                    <a:pt x="10552176" y="1792224"/>
                  </a:cubicBezTo>
                  <a:lnTo>
                    <a:pt x="146304" y="1792224"/>
                  </a:lnTo>
                  <a:cubicBezTo>
                    <a:pt x="65532" y="1792224"/>
                    <a:pt x="0" y="1726692"/>
                    <a:pt x="0" y="1645920"/>
                  </a:cubicBezTo>
                  <a:close/>
                </a:path>
              </a:pathLst>
            </a:custGeom>
            <a:solidFill>
              <a:srgbClr val="E7F1F4"/>
            </a:solidFill>
          </p:spPr>
        </p:sp>
      </p:grpSp>
      <p:grpSp>
        <p:nvGrpSpPr>
          <p:cNvPr name="Group 71" id="71"/>
          <p:cNvGrpSpPr/>
          <p:nvPr/>
        </p:nvGrpSpPr>
        <p:grpSpPr>
          <a:xfrm rot="0">
            <a:off x="1124712" y="8215884"/>
            <a:ext cx="768096" cy="768096"/>
            <a:chOff x="0" y="0"/>
            <a:chExt cx="1024128" cy="1024128"/>
          </a:xfrm>
        </p:grpSpPr>
        <p:sp>
          <p:nvSpPr>
            <p:cNvPr name="Freeform 72" id="72"/>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E7C86"/>
            </a:solidFill>
          </p:spPr>
        </p:sp>
      </p:grpSp>
      <p:grpSp>
        <p:nvGrpSpPr>
          <p:cNvPr name="Group 73" id="73"/>
          <p:cNvGrpSpPr/>
          <p:nvPr/>
        </p:nvGrpSpPr>
        <p:grpSpPr>
          <a:xfrm rot="0">
            <a:off x="1124712" y="8215884"/>
            <a:ext cx="768096" cy="768096"/>
            <a:chOff x="0" y="0"/>
            <a:chExt cx="1024128" cy="1024128"/>
          </a:xfrm>
        </p:grpSpPr>
        <p:sp>
          <p:nvSpPr>
            <p:cNvPr name="Freeform 74" id="74"/>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4">
                <a:alphaModFix amt="0"/>
              </a:blip>
              <a:stretch>
                <a:fillRect l="-78303" t="0" r="-78303" b="0"/>
              </a:stretch>
            </a:blipFill>
          </p:spPr>
        </p:sp>
        <p:sp>
          <p:nvSpPr>
            <p:cNvPr name="TextBox 75" id="75"/>
            <p:cNvSpPr txBox="true"/>
            <p:nvPr/>
          </p:nvSpPr>
          <p:spPr>
            <a:xfrm>
              <a:off x="0" y="-57150"/>
              <a:ext cx="1024128" cy="1081278"/>
            </a:xfrm>
            <a:prstGeom prst="rect">
              <a:avLst/>
            </a:prstGeom>
          </p:spPr>
          <p:txBody>
            <a:bodyPr anchor="ctr" rtlCol="false" tIns="0" lIns="0" bIns="0" rIns="0"/>
            <a:lstStyle/>
            <a:p>
              <a:pPr algn="ctr">
                <a:lnSpc>
                  <a:spcPts val="3240"/>
                </a:lnSpc>
              </a:pPr>
              <a:r>
                <a:rPr lang="en-US" sz="2700" b="true">
                  <a:solidFill>
                    <a:srgbClr val="FFFFFF"/>
                  </a:solidFill>
                  <a:latin typeface="Calibri (MS) Bold"/>
                  <a:ea typeface="Calibri (MS) Bold"/>
                  <a:cs typeface="Calibri (MS) Bold"/>
                  <a:sym typeface="Calibri (MS) Bold"/>
                </a:rPr>
                <a:t>7</a:t>
              </a:r>
            </a:p>
          </p:txBody>
        </p:sp>
      </p:grpSp>
      <p:grpSp>
        <p:nvGrpSpPr>
          <p:cNvPr name="Group 76" id="76"/>
          <p:cNvGrpSpPr/>
          <p:nvPr/>
        </p:nvGrpSpPr>
        <p:grpSpPr>
          <a:xfrm rot="0">
            <a:off x="2194560" y="7927848"/>
            <a:ext cx="6377940" cy="1344168"/>
            <a:chOff x="0" y="0"/>
            <a:chExt cx="8503920" cy="1792224"/>
          </a:xfrm>
        </p:grpSpPr>
        <p:sp>
          <p:nvSpPr>
            <p:cNvPr name="Freeform 77" id="77"/>
            <p:cNvSpPr/>
            <p:nvPr/>
          </p:nvSpPr>
          <p:spPr>
            <a:xfrm flipH="false" flipV="false" rot="0">
              <a:off x="0" y="0"/>
              <a:ext cx="8503920" cy="1792224"/>
            </a:xfrm>
            <a:custGeom>
              <a:avLst/>
              <a:gdLst/>
              <a:ahLst/>
              <a:cxnLst/>
              <a:rect r="r" b="b" t="t" l="l"/>
              <a:pathLst>
                <a:path h="1792224" w="8503920">
                  <a:moveTo>
                    <a:pt x="0" y="0"/>
                  </a:moveTo>
                  <a:lnTo>
                    <a:pt x="8503920" y="0"/>
                  </a:lnTo>
                  <a:lnTo>
                    <a:pt x="8503920" y="1792224"/>
                  </a:lnTo>
                  <a:lnTo>
                    <a:pt x="0" y="1792224"/>
                  </a:lnTo>
                  <a:close/>
                </a:path>
              </a:pathLst>
            </a:custGeom>
            <a:blipFill>
              <a:blip r:embed="rId4">
                <a:alphaModFix amt="0"/>
              </a:blip>
              <a:stretch>
                <a:fillRect l="0" t="-42454" r="0" b="-42454"/>
              </a:stretch>
            </a:blipFill>
          </p:spPr>
        </p:sp>
        <p:sp>
          <p:nvSpPr>
            <p:cNvPr name="TextBox 78" id="78"/>
            <p:cNvSpPr txBox="true"/>
            <p:nvPr/>
          </p:nvSpPr>
          <p:spPr>
            <a:xfrm>
              <a:off x="0" y="-47625"/>
              <a:ext cx="8503920" cy="1839849"/>
            </a:xfrm>
            <a:prstGeom prst="rect">
              <a:avLst/>
            </a:prstGeom>
          </p:spPr>
          <p:txBody>
            <a:bodyPr anchor="ctr" rtlCol="false" tIns="0" lIns="0" bIns="0" rIns="0"/>
            <a:lstStyle/>
            <a:p>
              <a:pPr algn="l">
                <a:lnSpc>
                  <a:spcPts val="2520"/>
                </a:lnSpc>
              </a:pPr>
              <a:r>
                <a:rPr lang="en-US" sz="2100" b="true">
                  <a:solidFill>
                    <a:srgbClr val="1B2A4A"/>
                  </a:solidFill>
                  <a:latin typeface="Calibri (MS) Bold"/>
                  <a:ea typeface="Calibri (MS) Bold"/>
                  <a:cs typeface="Calibri (MS) Bold"/>
                  <a:sym typeface="Calibri (MS) Bold"/>
                </a:rPr>
                <a:t>Tunjukkan hasil perbandingan</a:t>
              </a:r>
            </a:p>
          </p:txBody>
        </p:sp>
      </p:grpSp>
      <p:grpSp>
        <p:nvGrpSpPr>
          <p:cNvPr name="Group 79" id="79"/>
          <p:cNvGrpSpPr/>
          <p:nvPr/>
        </p:nvGrpSpPr>
        <p:grpSpPr>
          <a:xfrm rot="0">
            <a:off x="822960" y="9052560"/>
            <a:ext cx="16637508" cy="754380"/>
            <a:chOff x="0" y="0"/>
            <a:chExt cx="22183344" cy="1005840"/>
          </a:xfrm>
        </p:grpSpPr>
        <p:sp>
          <p:nvSpPr>
            <p:cNvPr name="Freeform 80" id="80"/>
            <p:cNvSpPr/>
            <p:nvPr/>
          </p:nvSpPr>
          <p:spPr>
            <a:xfrm flipH="false" flipV="false" rot="0">
              <a:off x="0" y="0"/>
              <a:ext cx="22183344" cy="1005840"/>
            </a:xfrm>
            <a:custGeom>
              <a:avLst/>
              <a:gdLst/>
              <a:ahLst/>
              <a:cxnLst/>
              <a:rect r="r" b="b" t="t" l="l"/>
              <a:pathLst>
                <a:path h="1005840" w="22183344">
                  <a:moveTo>
                    <a:pt x="0" y="146304"/>
                  </a:moveTo>
                  <a:cubicBezTo>
                    <a:pt x="0" y="65532"/>
                    <a:pt x="65532" y="0"/>
                    <a:pt x="146304" y="0"/>
                  </a:cubicBezTo>
                  <a:lnTo>
                    <a:pt x="22037039" y="0"/>
                  </a:lnTo>
                  <a:cubicBezTo>
                    <a:pt x="22117811" y="0"/>
                    <a:pt x="22183344" y="65532"/>
                    <a:pt x="22183344" y="146304"/>
                  </a:cubicBezTo>
                  <a:lnTo>
                    <a:pt x="22183344" y="859536"/>
                  </a:lnTo>
                  <a:cubicBezTo>
                    <a:pt x="22183344" y="940308"/>
                    <a:pt x="22117811" y="1005840"/>
                    <a:pt x="22037039" y="1005840"/>
                  </a:cubicBezTo>
                  <a:lnTo>
                    <a:pt x="146304" y="1005840"/>
                  </a:lnTo>
                  <a:cubicBezTo>
                    <a:pt x="65532" y="1005840"/>
                    <a:pt x="0" y="940308"/>
                    <a:pt x="0" y="859536"/>
                  </a:cubicBezTo>
                  <a:close/>
                </a:path>
              </a:pathLst>
            </a:custGeom>
            <a:solidFill>
              <a:srgbClr val="1B2A4A"/>
            </a:solidFill>
          </p:spPr>
        </p:sp>
      </p:grpSp>
      <p:grpSp>
        <p:nvGrpSpPr>
          <p:cNvPr name="Group 81" id="81"/>
          <p:cNvGrpSpPr/>
          <p:nvPr/>
        </p:nvGrpSpPr>
        <p:grpSpPr>
          <a:xfrm rot="0">
            <a:off x="5932170" y="9272016"/>
            <a:ext cx="16047720" cy="754380"/>
            <a:chOff x="0" y="0"/>
            <a:chExt cx="21396960" cy="1005840"/>
          </a:xfrm>
        </p:grpSpPr>
        <p:sp>
          <p:nvSpPr>
            <p:cNvPr name="Freeform 82" id="82"/>
            <p:cNvSpPr/>
            <p:nvPr/>
          </p:nvSpPr>
          <p:spPr>
            <a:xfrm flipH="false" flipV="false" rot="0">
              <a:off x="0" y="0"/>
              <a:ext cx="21396961" cy="1005840"/>
            </a:xfrm>
            <a:custGeom>
              <a:avLst/>
              <a:gdLst/>
              <a:ahLst/>
              <a:cxnLst/>
              <a:rect r="r" b="b" t="t" l="l"/>
              <a:pathLst>
                <a:path h="1005840" w="21396961">
                  <a:moveTo>
                    <a:pt x="0" y="0"/>
                  </a:moveTo>
                  <a:lnTo>
                    <a:pt x="21396961" y="0"/>
                  </a:lnTo>
                  <a:lnTo>
                    <a:pt x="21396961" y="1005840"/>
                  </a:lnTo>
                  <a:lnTo>
                    <a:pt x="0" y="1005840"/>
                  </a:lnTo>
                  <a:close/>
                </a:path>
              </a:pathLst>
            </a:custGeom>
            <a:blipFill>
              <a:blip r:embed="rId4">
                <a:alphaModFix amt="0"/>
              </a:blip>
              <a:stretch>
                <a:fillRect l="0" t="-364499" r="0" b="-364499"/>
              </a:stretch>
            </a:blipFill>
          </p:spPr>
        </p:sp>
        <p:sp>
          <p:nvSpPr>
            <p:cNvPr name="TextBox 83" id="83"/>
            <p:cNvSpPr txBox="true"/>
            <p:nvPr/>
          </p:nvSpPr>
          <p:spPr>
            <a:xfrm>
              <a:off x="0" y="-38100"/>
              <a:ext cx="21396960" cy="1043940"/>
            </a:xfrm>
            <a:prstGeom prst="rect">
              <a:avLst/>
            </a:prstGeom>
          </p:spPr>
          <p:txBody>
            <a:bodyPr anchor="ctr" rtlCol="false" tIns="0" lIns="0" bIns="0" rIns="0"/>
            <a:lstStyle/>
            <a:p>
              <a:pPr algn="l">
                <a:lnSpc>
                  <a:spcPts val="2250"/>
                </a:lnSpc>
              </a:pPr>
              <a:r>
                <a:rPr lang="en-US" sz="1875" i="true">
                  <a:solidFill>
                    <a:srgbClr val="FFFFFF"/>
                  </a:solidFill>
                  <a:latin typeface="Calibri (MS) Italics"/>
                  <a:ea typeface="Calibri (MS) Italics"/>
                  <a:cs typeface="Calibri (MS) Italics"/>
                  <a:sym typeface="Calibri (MS) Italics"/>
                </a:rPr>
                <a:t>Menggunakan dataset kecil/sedang agar output mudah dijelaskan </a:t>
              </a:r>
            </a:p>
            <a:p>
              <a:pPr algn="l">
                <a:lnSpc>
                  <a:spcPts val="2250"/>
                </a:lnSpc>
              </a:pPr>
            </a:p>
          </p:txBody>
        </p:sp>
      </p:grpSp>
    </p:spTree>
  </p:cSld>
  <p:clrMapOvr>
    <a:masterClrMapping/>
  </p:clrMapOvr>
  <p:transition spd="fast">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DAHOz0Q-hR8</dc:identifier>
  <dcterms:modified xsi:type="dcterms:W3CDTF">2011-08-01T06:04:30Z</dcterms:modified>
  <cp:revision>1</cp:revision>
  <dc:title>Presentasi_FCFS_vs_PriorityScheduling (1).pptx</dc:title>
</cp:coreProperties>
</file>